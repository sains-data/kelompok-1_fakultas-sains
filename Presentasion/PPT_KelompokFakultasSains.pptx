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Poppins" charset="1" panose="00000500000000000000"/>
      <p:regular r:id="rId26"/>
    </p:embeddedFont>
    <p:embeddedFont>
      <p:font typeface="Poppins Medium" charset="1" panose="00000600000000000000"/>
      <p:regular r:id="rId27"/>
    </p:embeddedFont>
    <p:embeddedFont>
      <p:font typeface="Canva Sans Bold" charset="1" panose="020B0803030501040103"/>
      <p:regular r:id="rId28"/>
    </p:embeddedFont>
    <p:embeddedFont>
      <p:font typeface="Canva Sans" charset="1" panose="020B0503030501040103"/>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0" y="6569683"/>
            <a:ext cx="18288000" cy="0"/>
          </a:xfrm>
          <a:prstGeom prst="line">
            <a:avLst/>
          </a:prstGeom>
          <a:ln cap="rnd" w="9525">
            <a:solidFill>
              <a:srgbClr val="F4F4F4"/>
            </a:solidFill>
            <a:prstDash val="solid"/>
            <a:headEnd type="none" len="sm" w="sm"/>
            <a:tailEnd type="none" len="sm" w="sm"/>
          </a:ln>
        </p:spPr>
      </p:sp>
      <p:grpSp>
        <p:nvGrpSpPr>
          <p:cNvPr name="Group 3" id="3"/>
          <p:cNvGrpSpPr/>
          <p:nvPr/>
        </p:nvGrpSpPr>
        <p:grpSpPr>
          <a:xfrm rot="0">
            <a:off x="12575079" y="8666345"/>
            <a:ext cx="5416280" cy="1025522"/>
            <a:chOff x="0" y="0"/>
            <a:chExt cx="1426510" cy="270096"/>
          </a:xfrm>
        </p:grpSpPr>
        <p:sp>
          <p:nvSpPr>
            <p:cNvPr name="Freeform 4" id="4"/>
            <p:cNvSpPr/>
            <p:nvPr/>
          </p:nvSpPr>
          <p:spPr>
            <a:xfrm flipH="false" flipV="false" rot="0">
              <a:off x="0" y="0"/>
              <a:ext cx="1426510" cy="270096"/>
            </a:xfrm>
            <a:custGeom>
              <a:avLst/>
              <a:gdLst/>
              <a:ahLst/>
              <a:cxnLst/>
              <a:rect r="r" b="b" t="t" l="l"/>
              <a:pathLst>
                <a:path h="270096" w="1426510">
                  <a:moveTo>
                    <a:pt x="135048" y="0"/>
                  </a:moveTo>
                  <a:lnTo>
                    <a:pt x="1291462" y="0"/>
                  </a:lnTo>
                  <a:cubicBezTo>
                    <a:pt x="1366047" y="0"/>
                    <a:pt x="1426510" y="60463"/>
                    <a:pt x="1426510" y="135048"/>
                  </a:cubicBezTo>
                  <a:lnTo>
                    <a:pt x="1426510" y="135048"/>
                  </a:lnTo>
                  <a:cubicBezTo>
                    <a:pt x="1426510" y="170865"/>
                    <a:pt x="1412282" y="205215"/>
                    <a:pt x="1386955" y="230542"/>
                  </a:cubicBezTo>
                  <a:cubicBezTo>
                    <a:pt x="1361629" y="255868"/>
                    <a:pt x="1327279" y="270096"/>
                    <a:pt x="1291462" y="270096"/>
                  </a:cubicBezTo>
                  <a:lnTo>
                    <a:pt x="135048" y="270096"/>
                  </a:lnTo>
                  <a:cubicBezTo>
                    <a:pt x="60463" y="270096"/>
                    <a:pt x="0" y="209633"/>
                    <a:pt x="0" y="135048"/>
                  </a:cubicBezTo>
                  <a:lnTo>
                    <a:pt x="0" y="135048"/>
                  </a:lnTo>
                  <a:cubicBezTo>
                    <a:pt x="0" y="60463"/>
                    <a:pt x="60463" y="0"/>
                    <a:pt x="135048" y="0"/>
                  </a:cubicBezTo>
                  <a:close/>
                </a:path>
              </a:pathLst>
            </a:custGeom>
            <a:gradFill rotWithShape="true">
              <a:gsLst>
                <a:gs pos="0">
                  <a:srgbClr val="590E1E">
                    <a:alpha val="100000"/>
                  </a:srgbClr>
                </a:gs>
                <a:gs pos="100000">
                  <a:srgbClr val="000000">
                    <a:alpha val="100000"/>
                  </a:srgbClr>
                </a:gs>
              </a:gsLst>
              <a:lin ang="0"/>
            </a:gradFill>
            <a:ln w="9525" cap="rnd">
              <a:solidFill>
                <a:srgbClr val="F4F4F4"/>
              </a:solidFill>
              <a:prstDash val="solid"/>
              <a:round/>
            </a:ln>
          </p:spPr>
        </p:sp>
        <p:sp>
          <p:nvSpPr>
            <p:cNvPr name="TextBox 5" id="5"/>
            <p:cNvSpPr txBox="true"/>
            <p:nvPr/>
          </p:nvSpPr>
          <p:spPr>
            <a:xfrm>
              <a:off x="0" y="-47625"/>
              <a:ext cx="1426510" cy="317721"/>
            </a:xfrm>
            <a:prstGeom prst="rect">
              <a:avLst/>
            </a:prstGeom>
          </p:spPr>
          <p:txBody>
            <a:bodyPr anchor="ctr" rtlCol="false" tIns="50800" lIns="50800" bIns="50800" rIns="50800"/>
            <a:lstStyle/>
            <a:p>
              <a:pPr algn="ctr">
                <a:lnSpc>
                  <a:spcPts val="2690"/>
                </a:lnSpc>
              </a:pPr>
              <a:r>
                <a:rPr lang="en-US" sz="1921" spc="40">
                  <a:solidFill>
                    <a:srgbClr val="F4F4F4"/>
                  </a:solidFill>
                  <a:latin typeface="Poppins"/>
                  <a:ea typeface="Poppins"/>
                  <a:cs typeface="Poppins"/>
                  <a:sym typeface="Poppins"/>
                </a:rPr>
                <a:t>KELOMPOK 1 PERGUDANGAN DATA</a:t>
              </a:r>
            </a:p>
          </p:txBody>
        </p:sp>
      </p:grpSp>
      <p:sp>
        <p:nvSpPr>
          <p:cNvPr name="TextBox 6" id="6"/>
          <p:cNvSpPr txBox="true"/>
          <p:nvPr/>
        </p:nvSpPr>
        <p:spPr>
          <a:xfrm rot="0">
            <a:off x="296641" y="2126501"/>
            <a:ext cx="17694718" cy="3016999"/>
          </a:xfrm>
          <a:prstGeom prst="rect">
            <a:avLst/>
          </a:prstGeom>
        </p:spPr>
        <p:txBody>
          <a:bodyPr anchor="t" rtlCol="false" tIns="0" lIns="0" bIns="0" rIns="0">
            <a:spAutoFit/>
          </a:bodyPr>
          <a:lstStyle/>
          <a:p>
            <a:pPr algn="ctr">
              <a:lnSpc>
                <a:spcPts val="11148"/>
              </a:lnSpc>
            </a:pPr>
            <a:r>
              <a:rPr lang="en-US" b="true" sz="11735" spc="-492">
                <a:solidFill>
                  <a:srgbClr val="F4F4F4"/>
                </a:solidFill>
                <a:latin typeface="Poppins Medium"/>
                <a:ea typeface="Poppins Medium"/>
                <a:cs typeface="Poppins Medium"/>
                <a:sym typeface="Poppins Medium"/>
              </a:rPr>
              <a:t>Data Warehouse Fakultas Sains</a:t>
            </a:r>
          </a:p>
        </p:txBody>
      </p:sp>
      <p:sp>
        <p:nvSpPr>
          <p:cNvPr name="TextBox 7" id="7"/>
          <p:cNvSpPr txBox="true"/>
          <p:nvPr/>
        </p:nvSpPr>
        <p:spPr>
          <a:xfrm rot="0">
            <a:off x="296641" y="8172994"/>
            <a:ext cx="10645050" cy="1085306"/>
          </a:xfrm>
          <a:prstGeom prst="rect">
            <a:avLst/>
          </a:prstGeom>
        </p:spPr>
        <p:txBody>
          <a:bodyPr anchor="t" rtlCol="false" tIns="0" lIns="0" bIns="0" rIns="0">
            <a:spAutoFit/>
          </a:bodyPr>
          <a:lstStyle/>
          <a:p>
            <a:pPr algn="l">
              <a:lnSpc>
                <a:spcPts val="4230"/>
              </a:lnSpc>
              <a:spcBef>
                <a:spcPct val="0"/>
              </a:spcBef>
            </a:pPr>
            <a:r>
              <a:rPr lang="en-US" sz="3021" spc="-126">
                <a:solidFill>
                  <a:srgbClr val="F4F4F4"/>
                </a:solidFill>
                <a:latin typeface="Poppins"/>
                <a:ea typeface="Poppins"/>
                <a:cs typeface="Poppins"/>
                <a:sym typeface="Poppins"/>
              </a:rPr>
              <a:t>Vania Claresta(123450029) Feby Wulandari(123450042) Tanty Widiyastuti (123450094) Siti Nur Aarifah (122450006)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0" y="3048686"/>
            <a:ext cx="9758945"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219749" y="448473"/>
            <a:ext cx="8115300" cy="2214451"/>
          </a:xfrm>
          <a:prstGeom prst="rect">
            <a:avLst/>
          </a:prstGeom>
        </p:spPr>
        <p:txBody>
          <a:bodyPr anchor="t" rtlCol="false" tIns="0" lIns="0" bIns="0" rIns="0">
            <a:spAutoFit/>
          </a:bodyPr>
          <a:lstStyle/>
          <a:p>
            <a:pPr algn="l">
              <a:lnSpc>
                <a:spcPts val="8119"/>
              </a:lnSpc>
            </a:pPr>
            <a:r>
              <a:rPr lang="en-US" sz="8546" spc="-358" b="true">
                <a:solidFill>
                  <a:srgbClr val="F4F4F4"/>
                </a:solidFill>
                <a:latin typeface="Poppins Medium"/>
                <a:ea typeface="Poppins Medium"/>
                <a:cs typeface="Poppins Medium"/>
                <a:sym typeface="Poppins Medium"/>
              </a:rPr>
              <a:t>Fakultas Sains Itera</a:t>
            </a:r>
          </a:p>
        </p:txBody>
      </p:sp>
      <p:sp>
        <p:nvSpPr>
          <p:cNvPr name="TextBox 4" id="4"/>
          <p:cNvSpPr txBox="true"/>
          <p:nvPr/>
        </p:nvSpPr>
        <p:spPr>
          <a:xfrm rot="0">
            <a:off x="219749" y="3345501"/>
            <a:ext cx="9367248" cy="6452960"/>
          </a:xfrm>
          <a:prstGeom prst="rect">
            <a:avLst/>
          </a:prstGeom>
        </p:spPr>
        <p:txBody>
          <a:bodyPr anchor="t" rtlCol="false" tIns="0" lIns="0" bIns="0" rIns="0">
            <a:spAutoFit/>
          </a:bodyPr>
          <a:lstStyle/>
          <a:p>
            <a:pPr algn="l">
              <a:lnSpc>
                <a:spcPts val="3950"/>
              </a:lnSpc>
            </a:pPr>
            <a:r>
              <a:rPr lang="en-US" sz="2821" spc="-118">
                <a:solidFill>
                  <a:srgbClr val="F4F4F4"/>
                </a:solidFill>
                <a:latin typeface="Poppins"/>
                <a:ea typeface="Poppins"/>
                <a:cs typeface="Poppins"/>
                <a:sym typeface="Poppins"/>
              </a:rPr>
              <a:t>Fakultas Sains Institut Teknologi Sumatera (Itera) merupakan fakultas yang berfokus pada pengembangan ilmu pengetahuan dasar dan terapan untuk mendukung kemajuan teknologi dan ipemanfaatan potensi Indonesia, khususnya wilayah Sumatera.</a:t>
            </a:r>
          </a:p>
          <a:p>
            <a:pPr algn="l">
              <a:lnSpc>
                <a:spcPts val="3950"/>
              </a:lnSpc>
            </a:pPr>
            <a:r>
              <a:rPr lang="en-US" sz="2821" spc="-118">
                <a:solidFill>
                  <a:srgbClr val="F4F4F4"/>
                </a:solidFill>
                <a:latin typeface="Poppins"/>
                <a:ea typeface="Poppins"/>
                <a:cs typeface="Poppins"/>
                <a:sym typeface="Poppins"/>
              </a:rPr>
              <a:t>Fakultas ini menaungi berbagai program studi seperti Fisika, Matematika, Biologi, Kimia, Farmasi, Sains Data, dan Sains Aktuaria. Melalui pendidikan, penelitian, dan pengabdian masyarakat, Fakultas Sains berkomitmen menghasilkan sumber daya manusia yang unggul, mandiri, dan berdaya saing global.</a:t>
            </a:r>
          </a:p>
          <a:p>
            <a:pPr algn="l">
              <a:lnSpc>
                <a:spcPts val="3950"/>
              </a:lnSpc>
              <a:spcBef>
                <a:spcPct val="0"/>
              </a:spcBef>
            </a:pPr>
          </a:p>
        </p:txBody>
      </p:sp>
      <p:grpSp>
        <p:nvGrpSpPr>
          <p:cNvPr name="Group 5" id="5"/>
          <p:cNvGrpSpPr/>
          <p:nvPr/>
        </p:nvGrpSpPr>
        <p:grpSpPr>
          <a:xfrm rot="0">
            <a:off x="9758945" y="1028700"/>
            <a:ext cx="9125155" cy="8229600"/>
            <a:chOff x="0" y="0"/>
            <a:chExt cx="1413725" cy="1274980"/>
          </a:xfrm>
        </p:grpSpPr>
        <p:sp>
          <p:nvSpPr>
            <p:cNvPr name="Freeform 6" id="6"/>
            <p:cNvSpPr/>
            <p:nvPr/>
          </p:nvSpPr>
          <p:spPr>
            <a:xfrm flipH="false" flipV="false" rot="0">
              <a:off x="0" y="0"/>
              <a:ext cx="1413725" cy="1274980"/>
            </a:xfrm>
            <a:custGeom>
              <a:avLst/>
              <a:gdLst/>
              <a:ahLst/>
              <a:cxnLst/>
              <a:rect r="r" b="b" t="t" l="l"/>
              <a:pathLst>
                <a:path h="1274980" w="1413725">
                  <a:moveTo>
                    <a:pt x="51753" y="0"/>
                  </a:moveTo>
                  <a:lnTo>
                    <a:pt x="1361972" y="0"/>
                  </a:lnTo>
                  <a:cubicBezTo>
                    <a:pt x="1375698" y="0"/>
                    <a:pt x="1388861" y="5453"/>
                    <a:pt x="1398567" y="15158"/>
                  </a:cubicBezTo>
                  <a:cubicBezTo>
                    <a:pt x="1408273" y="24864"/>
                    <a:pt x="1413725" y="38027"/>
                    <a:pt x="1413725" y="51753"/>
                  </a:cubicBezTo>
                  <a:lnTo>
                    <a:pt x="1413725" y="1223227"/>
                  </a:lnTo>
                  <a:cubicBezTo>
                    <a:pt x="1413725" y="1236953"/>
                    <a:pt x="1408273" y="1250117"/>
                    <a:pt x="1398567" y="1259822"/>
                  </a:cubicBezTo>
                  <a:cubicBezTo>
                    <a:pt x="1388861" y="1269528"/>
                    <a:pt x="1375698" y="1274980"/>
                    <a:pt x="1361972" y="1274980"/>
                  </a:cubicBezTo>
                  <a:lnTo>
                    <a:pt x="51753" y="1274980"/>
                  </a:lnTo>
                  <a:cubicBezTo>
                    <a:pt x="38027" y="1274980"/>
                    <a:pt x="24864" y="1269528"/>
                    <a:pt x="15158" y="1259822"/>
                  </a:cubicBezTo>
                  <a:cubicBezTo>
                    <a:pt x="5453" y="1250117"/>
                    <a:pt x="0" y="1236953"/>
                    <a:pt x="0" y="1223227"/>
                  </a:cubicBezTo>
                  <a:lnTo>
                    <a:pt x="0" y="51753"/>
                  </a:lnTo>
                  <a:cubicBezTo>
                    <a:pt x="0" y="38027"/>
                    <a:pt x="5453" y="24864"/>
                    <a:pt x="15158" y="15158"/>
                  </a:cubicBezTo>
                  <a:cubicBezTo>
                    <a:pt x="24864" y="5453"/>
                    <a:pt x="38027" y="0"/>
                    <a:pt x="51753" y="0"/>
                  </a:cubicBezTo>
                  <a:close/>
                </a:path>
              </a:pathLst>
            </a:custGeom>
            <a:blipFill>
              <a:blip r:embed="rId2">
                <a:alphaModFix amt="65000"/>
              </a:blip>
              <a:stretch>
                <a:fillRect l="0" t="-5441" r="0" b="-5441"/>
              </a:stretch>
            </a:blipFill>
            <a:ln w="9525" cap="rnd">
              <a:solidFill>
                <a:srgbClr val="FFFFFF">
                  <a:alpha val="64706"/>
                </a:srgbClr>
              </a:solidFill>
              <a:prstDash val="solid"/>
              <a:round/>
            </a:ln>
          </p:spPr>
        </p:sp>
      </p:gr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0" y="1597086"/>
            <a:ext cx="18288000" cy="0"/>
          </a:xfrm>
          <a:prstGeom prst="line">
            <a:avLst/>
          </a:prstGeom>
          <a:ln cap="rnd" w="9525">
            <a:solidFill>
              <a:srgbClr val="F4F4F4"/>
            </a:solidFill>
            <a:prstDash val="solid"/>
            <a:headEnd type="none" len="sm" w="sm"/>
            <a:tailEnd type="none" len="sm" w="sm"/>
          </a:ln>
        </p:spPr>
      </p:sp>
      <p:grpSp>
        <p:nvGrpSpPr>
          <p:cNvPr name="Group 3" id="3"/>
          <p:cNvGrpSpPr/>
          <p:nvPr/>
        </p:nvGrpSpPr>
        <p:grpSpPr>
          <a:xfrm rot="0">
            <a:off x="311260" y="366096"/>
            <a:ext cx="18659974" cy="3409812"/>
            <a:chOff x="0" y="0"/>
            <a:chExt cx="24879966" cy="4546416"/>
          </a:xfrm>
        </p:grpSpPr>
        <p:sp>
          <p:nvSpPr>
            <p:cNvPr name="TextBox 4" id="4"/>
            <p:cNvSpPr txBox="true"/>
            <p:nvPr/>
          </p:nvSpPr>
          <p:spPr>
            <a:xfrm rot="0">
              <a:off x="0" y="85725"/>
              <a:ext cx="22500395" cy="1168522"/>
            </a:xfrm>
            <a:prstGeom prst="rect">
              <a:avLst/>
            </a:prstGeom>
          </p:spPr>
          <p:txBody>
            <a:bodyPr anchor="t" rtlCol="false" tIns="0" lIns="0" bIns="0" rIns="0">
              <a:spAutoFit/>
            </a:bodyPr>
            <a:lstStyle/>
            <a:p>
              <a:pPr algn="l">
                <a:lnSpc>
                  <a:spcPts val="5876"/>
                </a:lnSpc>
              </a:pPr>
              <a:r>
                <a:rPr lang="en-US" sz="6186" spc="-259" b="true">
                  <a:solidFill>
                    <a:srgbClr val="F4F4F4"/>
                  </a:solidFill>
                  <a:latin typeface="Poppins Medium"/>
                  <a:ea typeface="Poppins Medium"/>
                  <a:cs typeface="Poppins Medium"/>
                  <a:sym typeface="Poppins Medium"/>
                </a:rPr>
                <a:t>Bussiness Requirements</a:t>
              </a:r>
            </a:p>
          </p:txBody>
        </p:sp>
        <p:sp>
          <p:nvSpPr>
            <p:cNvPr name="TextBox 5" id="5"/>
            <p:cNvSpPr txBox="true"/>
            <p:nvPr/>
          </p:nvSpPr>
          <p:spPr>
            <a:xfrm rot="0">
              <a:off x="0" y="3302515"/>
              <a:ext cx="18625942" cy="465825"/>
            </a:xfrm>
            <a:prstGeom prst="rect">
              <a:avLst/>
            </a:prstGeom>
          </p:spPr>
          <p:txBody>
            <a:bodyPr anchor="t" rtlCol="false" tIns="0" lIns="0" bIns="0" rIns="0">
              <a:spAutoFit/>
            </a:bodyPr>
            <a:lstStyle/>
            <a:p>
              <a:pPr algn="l">
                <a:lnSpc>
                  <a:spcPts val="2857"/>
                </a:lnSpc>
                <a:spcBef>
                  <a:spcPct val="0"/>
                </a:spcBef>
              </a:pPr>
            </a:p>
          </p:txBody>
        </p:sp>
        <p:sp>
          <p:nvSpPr>
            <p:cNvPr name="TextBox 6" id="6"/>
            <p:cNvSpPr txBox="true"/>
            <p:nvPr/>
          </p:nvSpPr>
          <p:spPr>
            <a:xfrm rot="0">
              <a:off x="0" y="4290576"/>
              <a:ext cx="24879966" cy="255840"/>
            </a:xfrm>
            <a:prstGeom prst="rect">
              <a:avLst/>
            </a:prstGeom>
          </p:spPr>
          <p:txBody>
            <a:bodyPr anchor="t" rtlCol="false" tIns="0" lIns="0" bIns="0" rIns="0">
              <a:spAutoFit/>
            </a:bodyPr>
            <a:lstStyle/>
            <a:p>
              <a:pPr algn="just">
                <a:lnSpc>
                  <a:spcPts val="1620"/>
                </a:lnSpc>
                <a:spcBef>
                  <a:spcPct val="0"/>
                </a:spcBef>
              </a:pPr>
            </a:p>
          </p:txBody>
        </p:sp>
      </p:grpSp>
      <p:sp>
        <p:nvSpPr>
          <p:cNvPr name="TextBox 7" id="7"/>
          <p:cNvSpPr txBox="true"/>
          <p:nvPr/>
        </p:nvSpPr>
        <p:spPr>
          <a:xfrm rot="0">
            <a:off x="735410" y="1837853"/>
            <a:ext cx="4848424" cy="887095"/>
          </a:xfrm>
          <a:prstGeom prst="rect">
            <a:avLst/>
          </a:prstGeom>
        </p:spPr>
        <p:txBody>
          <a:bodyPr anchor="t" rtlCol="false" tIns="0" lIns="0" bIns="0" rIns="0">
            <a:spAutoFit/>
          </a:bodyPr>
          <a:lstStyle/>
          <a:p>
            <a:pPr algn="ctr">
              <a:lnSpc>
                <a:spcPts val="7279"/>
              </a:lnSpc>
            </a:pPr>
            <a:r>
              <a:rPr lang="en-US" sz="5199" b="true">
                <a:solidFill>
                  <a:srgbClr val="F4F4F4"/>
                </a:solidFill>
                <a:latin typeface="Canva Sans Bold"/>
                <a:ea typeface="Canva Sans Bold"/>
                <a:cs typeface="Canva Sans Bold"/>
                <a:sym typeface="Canva Sans Bold"/>
              </a:rPr>
              <a:t>Identifikasi KPI</a:t>
            </a:r>
          </a:p>
        </p:txBody>
      </p:sp>
      <p:sp>
        <p:nvSpPr>
          <p:cNvPr name="TextBox 8" id="8"/>
          <p:cNvSpPr txBox="true"/>
          <p:nvPr/>
        </p:nvSpPr>
        <p:spPr>
          <a:xfrm rot="0">
            <a:off x="735410" y="2980003"/>
            <a:ext cx="13876225" cy="2788458"/>
          </a:xfrm>
          <a:prstGeom prst="rect">
            <a:avLst/>
          </a:prstGeom>
        </p:spPr>
        <p:txBody>
          <a:bodyPr anchor="t" rtlCol="false" tIns="0" lIns="0" bIns="0" rIns="0">
            <a:spAutoFit/>
          </a:bodyPr>
          <a:lstStyle/>
          <a:p>
            <a:pPr algn="l" marL="860419" indent="-430210" lvl="1">
              <a:lnSpc>
                <a:spcPts val="5579"/>
              </a:lnSpc>
              <a:buFont typeface="Arial"/>
              <a:buChar char="•"/>
            </a:pPr>
            <a:r>
              <a:rPr lang="en-US" sz="3985">
                <a:solidFill>
                  <a:srgbClr val="F4F4F4"/>
                </a:solidFill>
                <a:latin typeface="Canva Sans"/>
                <a:ea typeface="Canva Sans"/>
                <a:cs typeface="Canva Sans"/>
                <a:sym typeface="Canva Sans"/>
              </a:rPr>
              <a:t>Rata-rata IPK per semester/fakultas</a:t>
            </a:r>
          </a:p>
          <a:p>
            <a:pPr algn="l" marL="860419" indent="-430210" lvl="1">
              <a:lnSpc>
                <a:spcPts val="5579"/>
              </a:lnSpc>
              <a:buFont typeface="Arial"/>
              <a:buChar char="•"/>
            </a:pPr>
            <a:r>
              <a:rPr lang="en-US" sz="3985">
                <a:solidFill>
                  <a:srgbClr val="F4F4F4"/>
                </a:solidFill>
                <a:latin typeface="Canva Sans"/>
                <a:ea typeface="Canva Sans"/>
                <a:cs typeface="Canva Sans"/>
                <a:sym typeface="Canva Sans"/>
              </a:rPr>
              <a:t>Tingkat keberhasilan mata kuliah</a:t>
            </a:r>
          </a:p>
          <a:p>
            <a:pPr algn="l" marL="860419" indent="-430210" lvl="1">
              <a:lnSpc>
                <a:spcPts val="5579"/>
              </a:lnSpc>
              <a:buFont typeface="Arial"/>
              <a:buChar char="•"/>
            </a:pPr>
            <a:r>
              <a:rPr lang="en-US" sz="3985">
                <a:solidFill>
                  <a:srgbClr val="F4F4F4"/>
                </a:solidFill>
                <a:latin typeface="Canva Sans"/>
                <a:ea typeface="Canva Sans"/>
                <a:cs typeface="Canva Sans"/>
                <a:sym typeface="Canva Sans"/>
              </a:rPr>
              <a:t>Jumlah penelitian aktif dan publikasi dosen per tahun</a:t>
            </a:r>
          </a:p>
          <a:p>
            <a:pPr algn="l" marL="860419" indent="-430210" lvl="1">
              <a:lnSpc>
                <a:spcPts val="5579"/>
              </a:lnSpc>
              <a:buFont typeface="Arial"/>
              <a:buChar char="•"/>
            </a:pPr>
            <a:r>
              <a:rPr lang="en-US" sz="3985">
                <a:solidFill>
                  <a:srgbClr val="F4F4F4"/>
                </a:solidFill>
                <a:latin typeface="Canva Sans"/>
                <a:ea typeface="Canva Sans"/>
                <a:cs typeface="Canva Sans"/>
                <a:sym typeface="Canva Sans"/>
              </a:rPr>
              <a:t>Kualitas publikasi</a:t>
            </a:r>
          </a:p>
        </p:txBody>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0" y="1597086"/>
            <a:ext cx="18288000" cy="0"/>
          </a:xfrm>
          <a:prstGeom prst="line">
            <a:avLst/>
          </a:prstGeom>
          <a:ln cap="rnd" w="9525">
            <a:solidFill>
              <a:srgbClr val="F4F4F4"/>
            </a:solidFill>
            <a:prstDash val="solid"/>
            <a:headEnd type="none" len="sm" w="sm"/>
            <a:tailEnd type="none" len="sm" w="sm"/>
          </a:ln>
        </p:spPr>
      </p:sp>
      <p:grpSp>
        <p:nvGrpSpPr>
          <p:cNvPr name="Group 3" id="3"/>
          <p:cNvGrpSpPr/>
          <p:nvPr/>
        </p:nvGrpSpPr>
        <p:grpSpPr>
          <a:xfrm rot="0">
            <a:off x="311260" y="366096"/>
            <a:ext cx="18659974" cy="3409812"/>
            <a:chOff x="0" y="0"/>
            <a:chExt cx="24879966" cy="4546416"/>
          </a:xfrm>
        </p:grpSpPr>
        <p:sp>
          <p:nvSpPr>
            <p:cNvPr name="TextBox 4" id="4"/>
            <p:cNvSpPr txBox="true"/>
            <p:nvPr/>
          </p:nvSpPr>
          <p:spPr>
            <a:xfrm rot="0">
              <a:off x="0" y="85725"/>
              <a:ext cx="22500395" cy="1168522"/>
            </a:xfrm>
            <a:prstGeom prst="rect">
              <a:avLst/>
            </a:prstGeom>
          </p:spPr>
          <p:txBody>
            <a:bodyPr anchor="t" rtlCol="false" tIns="0" lIns="0" bIns="0" rIns="0">
              <a:spAutoFit/>
            </a:bodyPr>
            <a:lstStyle/>
            <a:p>
              <a:pPr algn="l">
                <a:lnSpc>
                  <a:spcPts val="5876"/>
                </a:lnSpc>
              </a:pPr>
              <a:r>
                <a:rPr lang="en-US" sz="6186" spc="-259" b="true">
                  <a:solidFill>
                    <a:srgbClr val="F4F4F4"/>
                  </a:solidFill>
                  <a:latin typeface="Poppins Medium"/>
                  <a:ea typeface="Poppins Medium"/>
                  <a:cs typeface="Poppins Medium"/>
                  <a:sym typeface="Poppins Medium"/>
                </a:rPr>
                <a:t>Bussines Requirements</a:t>
              </a:r>
            </a:p>
          </p:txBody>
        </p:sp>
        <p:sp>
          <p:nvSpPr>
            <p:cNvPr name="TextBox 5" id="5"/>
            <p:cNvSpPr txBox="true"/>
            <p:nvPr/>
          </p:nvSpPr>
          <p:spPr>
            <a:xfrm rot="0">
              <a:off x="0" y="3302515"/>
              <a:ext cx="18625942" cy="465825"/>
            </a:xfrm>
            <a:prstGeom prst="rect">
              <a:avLst/>
            </a:prstGeom>
          </p:spPr>
          <p:txBody>
            <a:bodyPr anchor="t" rtlCol="false" tIns="0" lIns="0" bIns="0" rIns="0">
              <a:spAutoFit/>
            </a:bodyPr>
            <a:lstStyle/>
            <a:p>
              <a:pPr algn="l">
                <a:lnSpc>
                  <a:spcPts val="2857"/>
                </a:lnSpc>
                <a:spcBef>
                  <a:spcPct val="0"/>
                </a:spcBef>
              </a:pPr>
            </a:p>
          </p:txBody>
        </p:sp>
        <p:sp>
          <p:nvSpPr>
            <p:cNvPr name="TextBox 6" id="6"/>
            <p:cNvSpPr txBox="true"/>
            <p:nvPr/>
          </p:nvSpPr>
          <p:spPr>
            <a:xfrm rot="0">
              <a:off x="0" y="4290576"/>
              <a:ext cx="24879966" cy="255840"/>
            </a:xfrm>
            <a:prstGeom prst="rect">
              <a:avLst/>
            </a:prstGeom>
          </p:spPr>
          <p:txBody>
            <a:bodyPr anchor="t" rtlCol="false" tIns="0" lIns="0" bIns="0" rIns="0">
              <a:spAutoFit/>
            </a:bodyPr>
            <a:lstStyle/>
            <a:p>
              <a:pPr algn="just">
                <a:lnSpc>
                  <a:spcPts val="1620"/>
                </a:lnSpc>
                <a:spcBef>
                  <a:spcPct val="0"/>
                </a:spcBef>
              </a:pPr>
            </a:p>
          </p:txBody>
        </p:sp>
      </p:grpSp>
      <p:sp>
        <p:nvSpPr>
          <p:cNvPr name="TextBox 7" id="7"/>
          <p:cNvSpPr txBox="true"/>
          <p:nvPr/>
        </p:nvSpPr>
        <p:spPr>
          <a:xfrm rot="0">
            <a:off x="542226" y="2843440"/>
            <a:ext cx="20954160" cy="7443560"/>
          </a:xfrm>
          <a:prstGeom prst="rect">
            <a:avLst/>
          </a:prstGeom>
        </p:spPr>
        <p:txBody>
          <a:bodyPr anchor="t" rtlCol="false" tIns="0" lIns="0" bIns="0" rIns="0">
            <a:spAutoFit/>
          </a:bodyPr>
          <a:lstStyle/>
          <a:p>
            <a:pPr algn="l">
              <a:lnSpc>
                <a:spcPts val="3950"/>
              </a:lnSpc>
            </a:pPr>
            <a:r>
              <a:rPr lang="en-US" sz="2821" spc="-118">
                <a:solidFill>
                  <a:srgbClr val="F4F4F4"/>
                </a:solidFill>
                <a:latin typeface="Poppins"/>
                <a:ea typeface="Poppins"/>
                <a:cs typeface="Poppins"/>
                <a:sym typeface="Poppins"/>
              </a:rPr>
              <a:t>A. Pengelolaan Akademik dan Perkuliahan</a:t>
            </a:r>
          </a:p>
          <a:p>
            <a:pPr algn="l">
              <a:lnSpc>
                <a:spcPts val="3950"/>
              </a:lnSpc>
            </a:pPr>
            <a:r>
              <a:rPr lang="en-US" sz="2821" spc="-118">
                <a:solidFill>
                  <a:srgbClr val="F4F4F4"/>
                </a:solidFill>
                <a:latin typeface="Poppins"/>
                <a:ea typeface="Poppins"/>
                <a:cs typeface="Poppins"/>
                <a:sym typeface="Poppins"/>
              </a:rPr>
              <a:t>Tujuan dari proses ini adalah untuk memantau performa akademik mahasiswa dan</a:t>
            </a:r>
          </a:p>
          <a:p>
            <a:pPr algn="l">
              <a:lnSpc>
                <a:spcPts val="3950"/>
              </a:lnSpc>
            </a:pPr>
            <a:r>
              <a:rPr lang="en-US" sz="2821" spc="-118">
                <a:solidFill>
                  <a:srgbClr val="F4F4F4"/>
                </a:solidFill>
                <a:latin typeface="Poppins"/>
                <a:ea typeface="Poppins"/>
                <a:cs typeface="Poppins"/>
                <a:sym typeface="Poppins"/>
              </a:rPr>
              <a:t>efisiensi program studi.</a:t>
            </a:r>
          </a:p>
          <a:p>
            <a:pPr algn="l">
              <a:lnSpc>
                <a:spcPts val="3950"/>
              </a:lnSpc>
            </a:pPr>
            <a:r>
              <a:rPr lang="en-US" sz="2821" spc="-118">
                <a:solidFill>
                  <a:srgbClr val="F4F4F4"/>
                </a:solidFill>
                <a:latin typeface="Poppins"/>
                <a:ea typeface="Poppins"/>
                <a:cs typeface="Poppins"/>
                <a:sym typeface="Poppins"/>
              </a:rPr>
              <a:t>Pertanyaan Bisnis yang Harus </a:t>
            </a:r>
            <a:r>
              <a:rPr lang="en-US" sz="2821" spc="-118">
                <a:solidFill>
                  <a:srgbClr val="F4F4F4"/>
                </a:solidFill>
                <a:latin typeface="Poppins"/>
                <a:ea typeface="Poppins"/>
                <a:cs typeface="Poppins"/>
                <a:sym typeface="Poppins"/>
              </a:rPr>
              <a:t>Dijawab:</a:t>
            </a:r>
          </a:p>
          <a:p>
            <a:pPr algn="l">
              <a:lnSpc>
                <a:spcPts val="3950"/>
              </a:lnSpc>
            </a:pPr>
            <a:r>
              <a:rPr lang="en-US" sz="2821" spc="-118">
                <a:solidFill>
                  <a:srgbClr val="F4F4F4"/>
                </a:solidFill>
                <a:latin typeface="Poppins"/>
                <a:ea typeface="Poppins"/>
                <a:cs typeface="Poppins"/>
                <a:sym typeface="Poppins"/>
              </a:rPr>
              <a:t>a. Untuk Dekan dan Kaprodi:</a:t>
            </a:r>
          </a:p>
          <a:p>
            <a:pPr algn="l">
              <a:lnSpc>
                <a:spcPts val="3950"/>
              </a:lnSpc>
            </a:pPr>
            <a:r>
              <a:rPr lang="en-US" sz="2821" spc="-118">
                <a:solidFill>
                  <a:srgbClr val="F4F4F4"/>
                </a:solidFill>
                <a:latin typeface="Poppins"/>
                <a:ea typeface="Poppins"/>
                <a:cs typeface="Poppins"/>
                <a:sym typeface="Poppins"/>
              </a:rPr>
              <a:t>● "Bagaimana tren fluktuasi performa akademik di setiap Program Studi</a:t>
            </a:r>
          </a:p>
          <a:p>
            <a:pPr algn="l">
              <a:lnSpc>
                <a:spcPts val="3950"/>
              </a:lnSpc>
            </a:pPr>
            <a:r>
              <a:rPr lang="en-US" sz="2821" spc="-118">
                <a:solidFill>
                  <a:srgbClr val="F4F4F4"/>
                </a:solidFill>
                <a:latin typeface="Poppins"/>
                <a:ea typeface="Poppins"/>
                <a:cs typeface="Poppins"/>
                <a:sym typeface="Poppins"/>
              </a:rPr>
              <a:t>dari Tahun Akademik 2021 hingga 2024?"</a:t>
            </a:r>
          </a:p>
          <a:p>
            <a:pPr algn="l">
              <a:lnSpc>
                <a:spcPts val="3950"/>
              </a:lnSpc>
            </a:pPr>
            <a:r>
              <a:rPr lang="en-US" sz="2821" spc="-118">
                <a:solidFill>
                  <a:srgbClr val="F4F4F4"/>
                </a:solidFill>
                <a:latin typeface="Poppins"/>
                <a:ea typeface="Poppins"/>
                <a:cs typeface="Poppins"/>
                <a:sym typeface="Poppins"/>
              </a:rPr>
              <a:t>● "Mata kuliah apa saja yang memiliki persentase kegagalan (nilai D/E)</a:t>
            </a:r>
          </a:p>
          <a:p>
            <a:pPr algn="l">
              <a:lnSpc>
                <a:spcPts val="3950"/>
              </a:lnSpc>
            </a:pPr>
            <a:r>
              <a:rPr lang="en-US" sz="2821" spc="-118">
                <a:solidFill>
                  <a:srgbClr val="F4F4F4"/>
                </a:solidFill>
                <a:latin typeface="Poppins"/>
                <a:ea typeface="Poppins"/>
                <a:cs typeface="Poppins"/>
                <a:sym typeface="Poppins"/>
              </a:rPr>
              <a:t>tertinggi di setiap program studi per semester?"</a:t>
            </a:r>
          </a:p>
          <a:p>
            <a:pPr algn="l">
              <a:lnSpc>
                <a:spcPts val="3950"/>
              </a:lnSpc>
            </a:pPr>
            <a:r>
              <a:rPr lang="en-US" sz="2821" spc="-118">
                <a:solidFill>
                  <a:srgbClr val="F4F4F4"/>
                </a:solidFill>
                <a:latin typeface="Poppins"/>
                <a:ea typeface="Poppins"/>
                <a:cs typeface="Poppins"/>
                <a:sym typeface="Poppins"/>
              </a:rPr>
              <a:t>● "Bagaimana sebaran jumlah mahasiswa aktif per program studi dan per</a:t>
            </a:r>
          </a:p>
          <a:p>
            <a:pPr algn="l">
              <a:lnSpc>
                <a:spcPts val="3950"/>
              </a:lnSpc>
            </a:pPr>
            <a:r>
              <a:rPr lang="en-US" sz="2821" spc="-118">
                <a:solidFill>
                  <a:srgbClr val="F4F4F4"/>
                </a:solidFill>
                <a:latin typeface="Poppins"/>
                <a:ea typeface="Poppins"/>
                <a:cs typeface="Poppins"/>
                <a:sym typeface="Poppins"/>
              </a:rPr>
              <a:t>angkatan saat ini?"</a:t>
            </a:r>
          </a:p>
          <a:p>
            <a:pPr algn="l">
              <a:lnSpc>
                <a:spcPts val="3950"/>
              </a:lnSpc>
            </a:pPr>
            <a:r>
              <a:rPr lang="en-US" sz="2821" spc="-118">
                <a:solidFill>
                  <a:srgbClr val="F4F4F4"/>
                </a:solidFill>
                <a:latin typeface="Poppins"/>
                <a:ea typeface="Poppins"/>
                <a:cs typeface="Poppins"/>
                <a:sym typeface="Poppins"/>
              </a:rPr>
              <a:t>b. Untuk Tim Akreditasi &amp; Penjaminan Mutu:</a:t>
            </a:r>
          </a:p>
          <a:p>
            <a:pPr algn="l">
              <a:lnSpc>
                <a:spcPts val="3950"/>
              </a:lnSpc>
            </a:pPr>
            <a:r>
              <a:rPr lang="en-US" sz="2821" spc="-118">
                <a:solidFill>
                  <a:srgbClr val="F4F4F4"/>
                </a:solidFill>
                <a:latin typeface="Poppins"/>
                <a:ea typeface="Poppins"/>
                <a:cs typeface="Poppins"/>
                <a:sym typeface="Poppins"/>
              </a:rPr>
              <a:t>● "Bagaimana tren jumlah mahasiswa masuk, aktif, lulus, dan drop-out</a:t>
            </a:r>
          </a:p>
          <a:p>
            <a:pPr algn="l">
              <a:lnSpc>
                <a:spcPts val="3950"/>
              </a:lnSpc>
            </a:pPr>
            <a:r>
              <a:rPr lang="en-US" sz="2821" spc="-118">
                <a:solidFill>
                  <a:srgbClr val="F4F4F4"/>
                </a:solidFill>
                <a:latin typeface="Poppins"/>
                <a:ea typeface="Poppins"/>
                <a:cs typeface="Poppins"/>
                <a:sym typeface="Poppins"/>
              </a:rPr>
              <a:t>per program studi selama 5 tahun terakhir?"</a:t>
            </a:r>
          </a:p>
          <a:p>
            <a:pPr algn="l">
              <a:lnSpc>
                <a:spcPts val="3950"/>
              </a:lnSpc>
              <a:spcBef>
                <a:spcPct val="0"/>
              </a:spcBef>
            </a:pPr>
          </a:p>
        </p:txBody>
      </p:sp>
      <p:sp>
        <p:nvSpPr>
          <p:cNvPr name="TextBox 8" id="8"/>
          <p:cNvSpPr txBox="true"/>
          <p:nvPr/>
        </p:nvSpPr>
        <p:spPr>
          <a:xfrm rot="0">
            <a:off x="542226" y="1774334"/>
            <a:ext cx="6173589" cy="887095"/>
          </a:xfrm>
          <a:prstGeom prst="rect">
            <a:avLst/>
          </a:prstGeom>
        </p:spPr>
        <p:txBody>
          <a:bodyPr anchor="t" rtlCol="false" tIns="0" lIns="0" bIns="0" rIns="0">
            <a:spAutoFit/>
          </a:bodyPr>
          <a:lstStyle/>
          <a:p>
            <a:pPr algn="ctr">
              <a:lnSpc>
                <a:spcPts val="7279"/>
              </a:lnSpc>
            </a:pPr>
            <a:r>
              <a:rPr lang="en-US" sz="5199" b="true">
                <a:solidFill>
                  <a:srgbClr val="F4F4F4"/>
                </a:solidFill>
                <a:latin typeface="Canva Sans Bold"/>
                <a:ea typeface="Canva Sans Bold"/>
                <a:cs typeface="Canva Sans Bold"/>
                <a:sym typeface="Canva Sans Bold"/>
              </a:rPr>
              <a:t>Kebutuhan Analitik</a:t>
            </a:r>
          </a:p>
        </p:txBody>
      </p:sp>
    </p:spTree>
  </p:cSld>
  <p:clrMapOvr>
    <a:masterClrMapping/>
  </p:clrMapOvr>
</p:sld>
</file>

<file path=ppt/slides/slide5.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0" y="1597086"/>
            <a:ext cx="18288000" cy="0"/>
          </a:xfrm>
          <a:prstGeom prst="line">
            <a:avLst/>
          </a:prstGeom>
          <a:ln cap="rnd" w="9525">
            <a:solidFill>
              <a:srgbClr val="F4F4F4"/>
            </a:solidFill>
            <a:prstDash val="solid"/>
            <a:headEnd type="none" len="sm" w="sm"/>
            <a:tailEnd type="none" len="sm" w="sm"/>
          </a:ln>
        </p:spPr>
      </p:sp>
      <p:grpSp>
        <p:nvGrpSpPr>
          <p:cNvPr name="Group 3" id="3"/>
          <p:cNvGrpSpPr/>
          <p:nvPr/>
        </p:nvGrpSpPr>
        <p:grpSpPr>
          <a:xfrm rot="0">
            <a:off x="311260" y="366096"/>
            <a:ext cx="18659974" cy="3409812"/>
            <a:chOff x="0" y="0"/>
            <a:chExt cx="24879966" cy="4546416"/>
          </a:xfrm>
        </p:grpSpPr>
        <p:sp>
          <p:nvSpPr>
            <p:cNvPr name="TextBox 4" id="4"/>
            <p:cNvSpPr txBox="true"/>
            <p:nvPr/>
          </p:nvSpPr>
          <p:spPr>
            <a:xfrm rot="0">
              <a:off x="0" y="85725"/>
              <a:ext cx="22500395" cy="1168522"/>
            </a:xfrm>
            <a:prstGeom prst="rect">
              <a:avLst/>
            </a:prstGeom>
          </p:spPr>
          <p:txBody>
            <a:bodyPr anchor="t" rtlCol="false" tIns="0" lIns="0" bIns="0" rIns="0">
              <a:spAutoFit/>
            </a:bodyPr>
            <a:lstStyle/>
            <a:p>
              <a:pPr algn="l">
                <a:lnSpc>
                  <a:spcPts val="5876"/>
                </a:lnSpc>
              </a:pPr>
              <a:r>
                <a:rPr lang="en-US" sz="6186" spc="-259" b="true">
                  <a:solidFill>
                    <a:srgbClr val="F4F4F4"/>
                  </a:solidFill>
                  <a:latin typeface="Poppins Medium"/>
                  <a:ea typeface="Poppins Medium"/>
                  <a:cs typeface="Poppins Medium"/>
                  <a:sym typeface="Poppins Medium"/>
                </a:rPr>
                <a:t>Bussines Requirements</a:t>
              </a:r>
            </a:p>
          </p:txBody>
        </p:sp>
        <p:sp>
          <p:nvSpPr>
            <p:cNvPr name="TextBox 5" id="5"/>
            <p:cNvSpPr txBox="true"/>
            <p:nvPr/>
          </p:nvSpPr>
          <p:spPr>
            <a:xfrm rot="0">
              <a:off x="0" y="3302515"/>
              <a:ext cx="18625942" cy="465825"/>
            </a:xfrm>
            <a:prstGeom prst="rect">
              <a:avLst/>
            </a:prstGeom>
          </p:spPr>
          <p:txBody>
            <a:bodyPr anchor="t" rtlCol="false" tIns="0" lIns="0" bIns="0" rIns="0">
              <a:spAutoFit/>
            </a:bodyPr>
            <a:lstStyle/>
            <a:p>
              <a:pPr algn="l">
                <a:lnSpc>
                  <a:spcPts val="2857"/>
                </a:lnSpc>
                <a:spcBef>
                  <a:spcPct val="0"/>
                </a:spcBef>
              </a:pPr>
            </a:p>
          </p:txBody>
        </p:sp>
        <p:sp>
          <p:nvSpPr>
            <p:cNvPr name="TextBox 6" id="6"/>
            <p:cNvSpPr txBox="true"/>
            <p:nvPr/>
          </p:nvSpPr>
          <p:spPr>
            <a:xfrm rot="0">
              <a:off x="0" y="4290576"/>
              <a:ext cx="24879966" cy="255840"/>
            </a:xfrm>
            <a:prstGeom prst="rect">
              <a:avLst/>
            </a:prstGeom>
          </p:spPr>
          <p:txBody>
            <a:bodyPr anchor="t" rtlCol="false" tIns="0" lIns="0" bIns="0" rIns="0">
              <a:spAutoFit/>
            </a:bodyPr>
            <a:lstStyle/>
            <a:p>
              <a:pPr algn="just">
                <a:lnSpc>
                  <a:spcPts val="1620"/>
                </a:lnSpc>
                <a:spcBef>
                  <a:spcPct val="0"/>
                </a:spcBef>
              </a:pPr>
            </a:p>
          </p:txBody>
        </p:sp>
      </p:grpSp>
      <p:sp>
        <p:nvSpPr>
          <p:cNvPr name="TextBox 7" id="7"/>
          <p:cNvSpPr txBox="true"/>
          <p:nvPr/>
        </p:nvSpPr>
        <p:spPr>
          <a:xfrm rot="0">
            <a:off x="311260" y="2586363"/>
            <a:ext cx="20954160" cy="4471760"/>
          </a:xfrm>
          <a:prstGeom prst="rect">
            <a:avLst/>
          </a:prstGeom>
        </p:spPr>
        <p:txBody>
          <a:bodyPr anchor="t" rtlCol="false" tIns="0" lIns="0" bIns="0" rIns="0">
            <a:spAutoFit/>
          </a:bodyPr>
          <a:lstStyle/>
          <a:p>
            <a:pPr algn="l">
              <a:lnSpc>
                <a:spcPts val="3950"/>
              </a:lnSpc>
            </a:pPr>
          </a:p>
          <a:p>
            <a:pPr algn="l">
              <a:lnSpc>
                <a:spcPts val="3950"/>
              </a:lnSpc>
            </a:pPr>
            <a:r>
              <a:rPr lang="en-US" sz="2821" spc="-118">
                <a:solidFill>
                  <a:srgbClr val="F4F4F4"/>
                </a:solidFill>
                <a:latin typeface="Poppins"/>
                <a:ea typeface="Poppins"/>
                <a:cs typeface="Poppins"/>
                <a:sym typeface="Poppins"/>
              </a:rPr>
              <a:t>B. Penelitian dan Publikasi Dosen</a:t>
            </a:r>
          </a:p>
          <a:p>
            <a:pPr algn="l">
              <a:lnSpc>
                <a:spcPts val="3950"/>
              </a:lnSpc>
            </a:pPr>
            <a:r>
              <a:rPr lang="en-US" sz="2821" spc="-118">
                <a:solidFill>
                  <a:srgbClr val="F4F4F4"/>
                </a:solidFill>
                <a:latin typeface="Poppins"/>
                <a:ea typeface="Poppins"/>
                <a:cs typeface="Poppins"/>
                <a:sym typeface="Poppins"/>
              </a:rPr>
              <a:t>Tujuan dari proses ini adalah memantau produktivitas dan kualitas penelitian serta</a:t>
            </a:r>
          </a:p>
          <a:p>
            <a:pPr algn="l">
              <a:lnSpc>
                <a:spcPts val="3950"/>
              </a:lnSpc>
            </a:pPr>
            <a:r>
              <a:rPr lang="en-US" sz="2821" spc="-118">
                <a:solidFill>
                  <a:srgbClr val="F4F4F4"/>
                </a:solidFill>
                <a:latin typeface="Poppins"/>
                <a:ea typeface="Poppins"/>
                <a:cs typeface="Poppins"/>
                <a:sym typeface="Poppins"/>
              </a:rPr>
              <a:t>publikasi dosen, yang krusial untuk IKU dan akreditasi.</a:t>
            </a:r>
          </a:p>
          <a:p>
            <a:pPr algn="l">
              <a:lnSpc>
                <a:spcPts val="3950"/>
              </a:lnSpc>
            </a:pPr>
            <a:r>
              <a:rPr lang="en-US" sz="2821" spc="-118">
                <a:solidFill>
                  <a:srgbClr val="F4F4F4"/>
                </a:solidFill>
                <a:latin typeface="Poppins"/>
                <a:ea typeface="Poppins"/>
                <a:cs typeface="Poppins"/>
                <a:sym typeface="Poppins"/>
              </a:rPr>
              <a:t>Pertanyaan Bisnis yang Harus Dijawab:</a:t>
            </a:r>
          </a:p>
          <a:p>
            <a:pPr algn="l">
              <a:lnSpc>
                <a:spcPts val="3950"/>
              </a:lnSpc>
            </a:pPr>
            <a:r>
              <a:rPr lang="en-US" sz="2821" spc="-118">
                <a:solidFill>
                  <a:srgbClr val="F4F4F4"/>
                </a:solidFill>
                <a:latin typeface="Poppins"/>
                <a:ea typeface="Poppins"/>
                <a:cs typeface="Poppins"/>
                <a:sym typeface="Poppins"/>
              </a:rPr>
              <a:t>a. Untuk Dekan dan Kaprodi:</a:t>
            </a:r>
          </a:p>
          <a:p>
            <a:pPr algn="l">
              <a:lnSpc>
                <a:spcPts val="3950"/>
              </a:lnSpc>
            </a:pPr>
            <a:r>
              <a:rPr lang="en-US" sz="2821" spc="-118">
                <a:solidFill>
                  <a:srgbClr val="F4F4F4"/>
                </a:solidFill>
                <a:latin typeface="Poppins"/>
                <a:ea typeface="Poppins"/>
                <a:cs typeface="Poppins"/>
                <a:sym typeface="Poppins"/>
              </a:rPr>
              <a:t>● "Siapa 10 dosen dengan jumlah sitasi dan publikasi terindeks tertinggi</a:t>
            </a:r>
          </a:p>
          <a:p>
            <a:pPr algn="l">
              <a:lnSpc>
                <a:spcPts val="3950"/>
              </a:lnSpc>
            </a:pPr>
            <a:r>
              <a:rPr lang="en-US" sz="2821" spc="-118">
                <a:solidFill>
                  <a:srgbClr val="F4F4F4"/>
                </a:solidFill>
                <a:latin typeface="Poppins"/>
                <a:ea typeface="Poppins"/>
                <a:cs typeface="Poppins"/>
                <a:sym typeface="Poppins"/>
              </a:rPr>
              <a:t>di fakultas?"</a:t>
            </a:r>
          </a:p>
          <a:p>
            <a:pPr algn="l">
              <a:lnSpc>
                <a:spcPts val="3950"/>
              </a:lnSpc>
              <a:spcBef>
                <a:spcPct val="0"/>
              </a:spcBef>
            </a:pPr>
          </a:p>
        </p:txBody>
      </p:sp>
      <p:sp>
        <p:nvSpPr>
          <p:cNvPr name="TextBox 8" id="8"/>
          <p:cNvSpPr txBox="true"/>
          <p:nvPr/>
        </p:nvSpPr>
        <p:spPr>
          <a:xfrm rot="0">
            <a:off x="311260" y="1784993"/>
            <a:ext cx="6173589" cy="887095"/>
          </a:xfrm>
          <a:prstGeom prst="rect">
            <a:avLst/>
          </a:prstGeom>
        </p:spPr>
        <p:txBody>
          <a:bodyPr anchor="t" rtlCol="false" tIns="0" lIns="0" bIns="0" rIns="0">
            <a:spAutoFit/>
          </a:bodyPr>
          <a:lstStyle/>
          <a:p>
            <a:pPr algn="ctr">
              <a:lnSpc>
                <a:spcPts val="7279"/>
              </a:lnSpc>
            </a:pPr>
            <a:r>
              <a:rPr lang="en-US" sz="5199" b="true">
                <a:solidFill>
                  <a:srgbClr val="F4F4F4"/>
                </a:solidFill>
                <a:latin typeface="Canva Sans Bold"/>
                <a:ea typeface="Canva Sans Bold"/>
                <a:cs typeface="Canva Sans Bold"/>
                <a:sym typeface="Canva Sans Bold"/>
              </a:rPr>
              <a:t>Kebutuhan Analitik</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0" y="1597086"/>
            <a:ext cx="18288000" cy="0"/>
          </a:xfrm>
          <a:prstGeom prst="line">
            <a:avLst/>
          </a:prstGeom>
          <a:ln cap="rnd" w="9525">
            <a:solidFill>
              <a:srgbClr val="F4F4F4"/>
            </a:solidFill>
            <a:prstDash val="solid"/>
            <a:headEnd type="none" len="sm" w="sm"/>
            <a:tailEnd type="none" len="sm" w="sm"/>
          </a:ln>
        </p:spPr>
      </p:sp>
      <p:graphicFrame>
        <p:nvGraphicFramePr>
          <p:cNvPr name="Object 3" id="3"/>
          <p:cNvGraphicFramePr/>
          <p:nvPr/>
        </p:nvGraphicFramePr>
        <p:xfrm>
          <a:off x="311260" y="2672088"/>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pSp>
        <p:nvGrpSpPr>
          <p:cNvPr name="Group 4" id="4"/>
          <p:cNvGrpSpPr/>
          <p:nvPr/>
        </p:nvGrpSpPr>
        <p:grpSpPr>
          <a:xfrm rot="0">
            <a:off x="311260" y="366096"/>
            <a:ext cx="18659974" cy="3409812"/>
            <a:chOff x="0" y="0"/>
            <a:chExt cx="24879966" cy="4546416"/>
          </a:xfrm>
        </p:grpSpPr>
        <p:sp>
          <p:nvSpPr>
            <p:cNvPr name="TextBox 5" id="5"/>
            <p:cNvSpPr txBox="true"/>
            <p:nvPr/>
          </p:nvSpPr>
          <p:spPr>
            <a:xfrm rot="0">
              <a:off x="0" y="85725"/>
              <a:ext cx="22500395" cy="1168522"/>
            </a:xfrm>
            <a:prstGeom prst="rect">
              <a:avLst/>
            </a:prstGeom>
          </p:spPr>
          <p:txBody>
            <a:bodyPr anchor="t" rtlCol="false" tIns="0" lIns="0" bIns="0" rIns="0">
              <a:spAutoFit/>
            </a:bodyPr>
            <a:lstStyle/>
            <a:p>
              <a:pPr algn="l">
                <a:lnSpc>
                  <a:spcPts val="5876"/>
                </a:lnSpc>
              </a:pPr>
              <a:r>
                <a:rPr lang="en-US" sz="6186" spc="-259" b="true">
                  <a:solidFill>
                    <a:srgbClr val="F4F4F4"/>
                  </a:solidFill>
                  <a:latin typeface="Poppins Medium"/>
                  <a:ea typeface="Poppins Medium"/>
                  <a:cs typeface="Poppins Medium"/>
                  <a:sym typeface="Poppins Medium"/>
                </a:rPr>
                <a:t>Data Source Identification</a:t>
              </a:r>
            </a:p>
          </p:txBody>
        </p:sp>
        <p:sp>
          <p:nvSpPr>
            <p:cNvPr name="TextBox 6" id="6"/>
            <p:cNvSpPr txBox="true"/>
            <p:nvPr/>
          </p:nvSpPr>
          <p:spPr>
            <a:xfrm rot="0">
              <a:off x="0" y="3302515"/>
              <a:ext cx="18625942" cy="465825"/>
            </a:xfrm>
            <a:prstGeom prst="rect">
              <a:avLst/>
            </a:prstGeom>
          </p:spPr>
          <p:txBody>
            <a:bodyPr anchor="t" rtlCol="false" tIns="0" lIns="0" bIns="0" rIns="0">
              <a:spAutoFit/>
            </a:bodyPr>
            <a:lstStyle/>
            <a:p>
              <a:pPr algn="l">
                <a:lnSpc>
                  <a:spcPts val="2857"/>
                </a:lnSpc>
                <a:spcBef>
                  <a:spcPct val="0"/>
                </a:spcBef>
              </a:pPr>
            </a:p>
          </p:txBody>
        </p:sp>
        <p:sp>
          <p:nvSpPr>
            <p:cNvPr name="TextBox 7" id="7"/>
            <p:cNvSpPr txBox="true"/>
            <p:nvPr/>
          </p:nvSpPr>
          <p:spPr>
            <a:xfrm rot="0">
              <a:off x="0" y="4290576"/>
              <a:ext cx="24879966" cy="255840"/>
            </a:xfrm>
            <a:prstGeom prst="rect">
              <a:avLst/>
            </a:prstGeom>
          </p:spPr>
          <p:txBody>
            <a:bodyPr anchor="t" rtlCol="false" tIns="0" lIns="0" bIns="0" rIns="0">
              <a:spAutoFit/>
            </a:bodyPr>
            <a:lstStyle/>
            <a:p>
              <a:pPr algn="just">
                <a:lnSpc>
                  <a:spcPts val="1620"/>
                </a:lnSpc>
                <a:spcBef>
                  <a:spcPct val="0"/>
                </a:spcBef>
              </a:pPr>
            </a:p>
          </p:txBody>
        </p:sp>
      </p:grpSp>
      <p:sp>
        <p:nvSpPr>
          <p:cNvPr name="TextBox 8" id="8"/>
          <p:cNvSpPr txBox="true"/>
          <p:nvPr/>
        </p:nvSpPr>
        <p:spPr>
          <a:xfrm rot="0">
            <a:off x="311260" y="1784993"/>
            <a:ext cx="4416723" cy="887095"/>
          </a:xfrm>
          <a:prstGeom prst="rect">
            <a:avLst/>
          </a:prstGeom>
        </p:spPr>
        <p:txBody>
          <a:bodyPr anchor="t" rtlCol="false" tIns="0" lIns="0" bIns="0" rIns="0">
            <a:spAutoFit/>
          </a:bodyPr>
          <a:lstStyle/>
          <a:p>
            <a:pPr algn="ctr">
              <a:lnSpc>
                <a:spcPts val="7279"/>
              </a:lnSpc>
            </a:pPr>
            <a:r>
              <a:rPr lang="en-US" sz="5199" b="true">
                <a:solidFill>
                  <a:srgbClr val="F4F4F4"/>
                </a:solidFill>
                <a:latin typeface="Canva Sans Bold"/>
                <a:ea typeface="Canva Sans Bold"/>
                <a:cs typeface="Canva Sans Bold"/>
                <a:sym typeface="Canva Sans Bold"/>
              </a:rPr>
              <a:t>Data Profiling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817341" y="2361626"/>
            <a:ext cx="18288000" cy="0"/>
          </a:xfrm>
          <a:prstGeom prst="line">
            <a:avLst/>
          </a:prstGeom>
          <a:ln cap="rnd" w="9525">
            <a:solidFill>
              <a:srgbClr val="F4F4F4"/>
            </a:solidFill>
            <a:prstDash val="solid"/>
            <a:headEnd type="none" len="sm" w="sm"/>
            <a:tailEnd type="none" len="sm" w="sm"/>
          </a:ln>
        </p:spPr>
      </p:sp>
      <p:sp>
        <p:nvSpPr>
          <p:cNvPr name="Freeform 3" id="3"/>
          <p:cNvSpPr/>
          <p:nvPr/>
        </p:nvSpPr>
        <p:spPr>
          <a:xfrm flipH="false" flipV="false" rot="0">
            <a:off x="245992" y="3261887"/>
            <a:ext cx="10342842" cy="4458512"/>
          </a:xfrm>
          <a:custGeom>
            <a:avLst/>
            <a:gdLst/>
            <a:ahLst/>
            <a:cxnLst/>
            <a:rect r="r" b="b" t="t" l="l"/>
            <a:pathLst>
              <a:path h="4458512" w="10342842">
                <a:moveTo>
                  <a:pt x="0" y="0"/>
                </a:moveTo>
                <a:lnTo>
                  <a:pt x="10342842" y="0"/>
                </a:lnTo>
                <a:lnTo>
                  <a:pt x="10342842" y="4458512"/>
                </a:lnTo>
                <a:lnTo>
                  <a:pt x="0" y="4458512"/>
                </a:lnTo>
                <a:lnTo>
                  <a:pt x="0" y="0"/>
                </a:lnTo>
                <a:close/>
              </a:path>
            </a:pathLst>
          </a:custGeom>
          <a:blipFill>
            <a:blip r:embed="rId2"/>
            <a:stretch>
              <a:fillRect l="0" t="0" r="0" b="0"/>
            </a:stretch>
          </a:blipFill>
        </p:spPr>
      </p:sp>
      <p:sp>
        <p:nvSpPr>
          <p:cNvPr name="TextBox 4" id="4"/>
          <p:cNvSpPr txBox="true"/>
          <p:nvPr/>
        </p:nvSpPr>
        <p:spPr>
          <a:xfrm rot="0">
            <a:off x="245992" y="609305"/>
            <a:ext cx="8708594" cy="1454537"/>
          </a:xfrm>
          <a:prstGeom prst="rect">
            <a:avLst/>
          </a:prstGeom>
        </p:spPr>
        <p:txBody>
          <a:bodyPr anchor="t" rtlCol="false" tIns="0" lIns="0" bIns="0" rIns="0">
            <a:spAutoFit/>
          </a:bodyPr>
          <a:lstStyle/>
          <a:p>
            <a:pPr algn="l">
              <a:lnSpc>
                <a:spcPts val="5338"/>
              </a:lnSpc>
            </a:pPr>
            <a:r>
              <a:rPr lang="en-US" sz="5619" spc="-236">
                <a:solidFill>
                  <a:srgbClr val="F4F4F4"/>
                </a:solidFill>
                <a:latin typeface="Poppins"/>
                <a:ea typeface="Poppins"/>
                <a:cs typeface="Poppins"/>
                <a:sym typeface="Poppins"/>
              </a:rPr>
              <a:t>Entity Relationship Dimensional</a:t>
            </a:r>
          </a:p>
        </p:txBody>
      </p:sp>
      <p:sp>
        <p:nvSpPr>
          <p:cNvPr name="TextBox 5" id="5"/>
          <p:cNvSpPr txBox="true"/>
          <p:nvPr/>
        </p:nvSpPr>
        <p:spPr>
          <a:xfrm rot="0">
            <a:off x="10588834" y="2747256"/>
            <a:ext cx="7252432" cy="6926148"/>
          </a:xfrm>
          <a:prstGeom prst="rect">
            <a:avLst/>
          </a:prstGeom>
        </p:spPr>
        <p:txBody>
          <a:bodyPr anchor="t" rtlCol="false" tIns="0" lIns="0" bIns="0" rIns="0">
            <a:spAutoFit/>
          </a:bodyPr>
          <a:lstStyle/>
          <a:p>
            <a:pPr algn="l" marL="472475" indent="-236237" lvl="1">
              <a:lnSpc>
                <a:spcPts val="3063"/>
              </a:lnSpc>
              <a:buFont typeface="Arial"/>
              <a:buChar char="•"/>
            </a:pPr>
            <a:r>
              <a:rPr lang="en-US" sz="2188" spc="-91">
                <a:solidFill>
                  <a:srgbClr val="F4F4F4"/>
                </a:solidFill>
                <a:latin typeface="Poppins"/>
                <a:ea typeface="Poppins"/>
                <a:cs typeface="Poppins"/>
                <a:sym typeface="Poppins"/>
              </a:rPr>
              <a:t>ERD ini menggabungkan dua domain utama: akademik (Mahasiswa, Dosen, MataKuliah, KRS_Nilai) dan publikasi ilmiah (Publikasi_Dosen, Jurnal).</a:t>
            </a:r>
          </a:p>
          <a:p>
            <a:pPr algn="l" marL="472475" indent="-236237" lvl="1">
              <a:lnSpc>
                <a:spcPts val="3063"/>
              </a:lnSpc>
              <a:buFont typeface="Arial"/>
              <a:buChar char="•"/>
            </a:pPr>
            <a:r>
              <a:rPr lang="en-US" sz="2188" spc="-91">
                <a:solidFill>
                  <a:srgbClr val="F4F4F4"/>
                </a:solidFill>
                <a:latin typeface="Poppins"/>
                <a:ea typeface="Poppins"/>
                <a:cs typeface="Poppins"/>
                <a:sym typeface="Poppins"/>
              </a:rPr>
              <a:t>Prodi menjadi entitas pusat yang menghubungkan Mahasiswa, Dosen, dan Mata Kuliah dalam struktur organisasi akademik.</a:t>
            </a:r>
          </a:p>
          <a:p>
            <a:pPr algn="l" marL="472475" indent="-236237" lvl="1">
              <a:lnSpc>
                <a:spcPts val="3063"/>
              </a:lnSpc>
              <a:buFont typeface="Arial"/>
              <a:buChar char="•"/>
            </a:pPr>
            <a:r>
              <a:rPr lang="en-US" sz="2188" spc="-91">
                <a:solidFill>
                  <a:srgbClr val="F4F4F4"/>
                </a:solidFill>
                <a:latin typeface="Poppins"/>
                <a:ea typeface="Poppins"/>
                <a:cs typeface="Poppins"/>
                <a:sym typeface="Poppins"/>
              </a:rPr>
              <a:t>KRS_Nilai merepresentasikan transaksi akademik yang menghubungkan Mahasiswa, Mata Kuliah, dan Dosen, serta menjadi dasar analisis performa akademik.</a:t>
            </a:r>
          </a:p>
          <a:p>
            <a:pPr algn="l" marL="472475" indent="-236237" lvl="1">
              <a:lnSpc>
                <a:spcPts val="3063"/>
              </a:lnSpc>
              <a:buFont typeface="Arial"/>
              <a:buChar char="•"/>
            </a:pPr>
            <a:r>
              <a:rPr lang="en-US" sz="2188" spc="-91">
                <a:solidFill>
                  <a:srgbClr val="F4F4F4"/>
                </a:solidFill>
                <a:latin typeface="Poppins"/>
                <a:ea typeface="Poppins"/>
                <a:cs typeface="Poppins"/>
                <a:sym typeface="Poppins"/>
              </a:rPr>
              <a:t>Publikasi_Dosen menghubungkan Dosen dengan Jurnal dan menyediakan data kinerja penelitian dan sitasi.</a:t>
            </a:r>
          </a:p>
          <a:p>
            <a:pPr algn="l" marL="472475" indent="-236237" lvl="1">
              <a:lnSpc>
                <a:spcPts val="3063"/>
              </a:lnSpc>
              <a:buFont typeface="Arial"/>
              <a:buChar char="•"/>
            </a:pPr>
            <a:r>
              <a:rPr lang="en-US" sz="2188" spc="-91">
                <a:solidFill>
                  <a:srgbClr val="F4F4F4"/>
                </a:solidFill>
                <a:latin typeface="Poppins"/>
                <a:ea typeface="Poppins"/>
                <a:cs typeface="Poppins"/>
                <a:sym typeface="Poppins"/>
              </a:rPr>
              <a:t>Relasi PK–FK yang jelas memastikan integritas referensial, konsistensi data, dan kesiapan untuk dikonversi ke skema dimensional (multifact) di data warehouse.</a:t>
            </a:r>
          </a:p>
        </p:txBody>
      </p:sp>
      <p:sp>
        <p:nvSpPr>
          <p:cNvPr name="TextBox 6" id="6"/>
          <p:cNvSpPr txBox="true"/>
          <p:nvPr/>
        </p:nvSpPr>
        <p:spPr>
          <a:xfrm rot="0">
            <a:off x="94854" y="2432651"/>
            <a:ext cx="6878923" cy="695886"/>
          </a:xfrm>
          <a:prstGeom prst="rect">
            <a:avLst/>
          </a:prstGeom>
        </p:spPr>
        <p:txBody>
          <a:bodyPr anchor="t" rtlCol="false" tIns="0" lIns="0" bIns="0" rIns="0">
            <a:spAutoFit/>
          </a:bodyPr>
          <a:lstStyle/>
          <a:p>
            <a:pPr algn="ctr">
              <a:lnSpc>
                <a:spcPts val="5784"/>
              </a:lnSpc>
            </a:pPr>
            <a:r>
              <a:rPr lang="en-US" sz="4131" b="true">
                <a:solidFill>
                  <a:srgbClr val="F4F4F4"/>
                </a:solidFill>
                <a:latin typeface="Canva Sans Bold"/>
                <a:ea typeface="Canva Sans Bold"/>
                <a:cs typeface="Canva Sans Bold"/>
                <a:sym typeface="Canva Sans Bold"/>
              </a:rPr>
              <a:t>Sistem Akademik-Publikasi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817341" y="1355218"/>
            <a:ext cx="18288000" cy="0"/>
          </a:xfrm>
          <a:prstGeom prst="line">
            <a:avLst/>
          </a:prstGeom>
          <a:ln cap="rnd" w="9525">
            <a:solidFill>
              <a:srgbClr val="F4F4F4"/>
            </a:solidFill>
            <a:prstDash val="solid"/>
            <a:headEnd type="none" len="sm" w="sm"/>
            <a:tailEnd type="none" len="sm" w="sm"/>
          </a:ln>
        </p:spPr>
      </p:sp>
      <p:sp>
        <p:nvSpPr>
          <p:cNvPr name="Freeform 3" id="3"/>
          <p:cNvSpPr/>
          <p:nvPr/>
        </p:nvSpPr>
        <p:spPr>
          <a:xfrm flipH="false" flipV="false" rot="0">
            <a:off x="465115" y="2651956"/>
            <a:ext cx="9377858" cy="6371928"/>
          </a:xfrm>
          <a:custGeom>
            <a:avLst/>
            <a:gdLst/>
            <a:ahLst/>
            <a:cxnLst/>
            <a:rect r="r" b="b" t="t" l="l"/>
            <a:pathLst>
              <a:path h="6371928" w="9377858">
                <a:moveTo>
                  <a:pt x="0" y="0"/>
                </a:moveTo>
                <a:lnTo>
                  <a:pt x="9377859" y="0"/>
                </a:lnTo>
                <a:lnTo>
                  <a:pt x="9377859" y="6371928"/>
                </a:lnTo>
                <a:lnTo>
                  <a:pt x="0" y="6371928"/>
                </a:lnTo>
                <a:lnTo>
                  <a:pt x="0" y="0"/>
                </a:lnTo>
                <a:close/>
              </a:path>
            </a:pathLst>
          </a:custGeom>
          <a:blipFill>
            <a:blip r:embed="rId2"/>
            <a:stretch>
              <a:fillRect l="-36" t="0" r="-1271" b="-1607"/>
            </a:stretch>
          </a:blipFill>
        </p:spPr>
      </p:sp>
      <p:sp>
        <p:nvSpPr>
          <p:cNvPr name="TextBox 4" id="4"/>
          <p:cNvSpPr txBox="true"/>
          <p:nvPr/>
        </p:nvSpPr>
        <p:spPr>
          <a:xfrm rot="0">
            <a:off x="346897" y="250190"/>
            <a:ext cx="6964243" cy="778510"/>
          </a:xfrm>
          <a:prstGeom prst="rect">
            <a:avLst/>
          </a:prstGeom>
        </p:spPr>
        <p:txBody>
          <a:bodyPr anchor="t" rtlCol="false" tIns="0" lIns="0" bIns="0" rIns="0">
            <a:spAutoFit/>
          </a:bodyPr>
          <a:lstStyle/>
          <a:p>
            <a:pPr algn="l">
              <a:lnSpc>
                <a:spcPts val="5338"/>
              </a:lnSpc>
            </a:pPr>
            <a:r>
              <a:rPr lang="en-US" sz="5619" spc="-236">
                <a:solidFill>
                  <a:srgbClr val="F4F4F4"/>
                </a:solidFill>
                <a:latin typeface="Poppins"/>
                <a:ea typeface="Poppins"/>
                <a:cs typeface="Poppins"/>
                <a:sym typeface="Poppins"/>
              </a:rPr>
              <a:t>Multi-fact Schema</a:t>
            </a:r>
          </a:p>
        </p:txBody>
      </p:sp>
      <p:sp>
        <p:nvSpPr>
          <p:cNvPr name="TextBox 5" id="5"/>
          <p:cNvSpPr txBox="true"/>
          <p:nvPr/>
        </p:nvSpPr>
        <p:spPr>
          <a:xfrm rot="0">
            <a:off x="9842974" y="1868817"/>
            <a:ext cx="8259218" cy="7881056"/>
          </a:xfrm>
          <a:prstGeom prst="rect">
            <a:avLst/>
          </a:prstGeom>
        </p:spPr>
        <p:txBody>
          <a:bodyPr anchor="t" rtlCol="false" tIns="0" lIns="0" bIns="0" rIns="0">
            <a:spAutoFit/>
          </a:bodyPr>
          <a:lstStyle/>
          <a:p>
            <a:pPr algn="just" marL="424160" indent="-212080" lvl="1">
              <a:lnSpc>
                <a:spcPts val="2750"/>
              </a:lnSpc>
              <a:buFont typeface="Arial"/>
              <a:buChar char="•"/>
            </a:pPr>
            <a:r>
              <a:rPr lang="en-US" sz="1964" spc="-82">
                <a:solidFill>
                  <a:srgbClr val="F4F4F4"/>
                </a:solidFill>
                <a:latin typeface="Poppins"/>
                <a:ea typeface="Poppins"/>
                <a:cs typeface="Poppins"/>
                <a:sym typeface="Poppins"/>
              </a:rPr>
              <a:t>Skema ini menggunakan dua fact table: F</a:t>
            </a:r>
            <a:r>
              <a:rPr lang="en-US" sz="1964" spc="-82">
                <a:solidFill>
                  <a:srgbClr val="F4F4F4"/>
                </a:solidFill>
                <a:latin typeface="Poppins"/>
                <a:ea typeface="Poppins"/>
                <a:cs typeface="Poppins"/>
                <a:sym typeface="Poppins"/>
              </a:rPr>
              <a:t>akta_Akademik untuk transaksi nilai/KRS dan Fakta_Publikasi untuk aktivitas penelitian dosen.</a:t>
            </a:r>
          </a:p>
          <a:p>
            <a:pPr algn="just" marL="424160" indent="-212080" lvl="1">
              <a:lnSpc>
                <a:spcPts val="2750"/>
              </a:lnSpc>
              <a:buFont typeface="Arial"/>
              <a:buChar char="•"/>
            </a:pPr>
            <a:r>
              <a:rPr lang="en-US" sz="1964" spc="-82">
                <a:solidFill>
                  <a:srgbClr val="F4F4F4"/>
                </a:solidFill>
                <a:latin typeface="Poppins"/>
                <a:ea typeface="Poppins"/>
                <a:cs typeface="Poppins"/>
                <a:sym typeface="Poppins"/>
              </a:rPr>
              <a:t>Kedua fact berbagi dimensi yang sama (conformed dimensions) seperti Dim_Waktu, Dim_Prodi, dan entitas dosen/mahasiswa yang sudah diberi SCD Type 2</a:t>
            </a:r>
          </a:p>
          <a:p>
            <a:pPr algn="just" marL="424160" indent="-212080" lvl="1">
              <a:lnSpc>
                <a:spcPts val="2750"/>
              </a:lnSpc>
              <a:buFont typeface="Arial"/>
              <a:buChar char="•"/>
            </a:pPr>
            <a:r>
              <a:rPr lang="en-US" sz="1964" spc="-82">
                <a:solidFill>
                  <a:srgbClr val="F4F4F4"/>
                </a:solidFill>
                <a:latin typeface="Poppins"/>
                <a:ea typeface="Poppins"/>
                <a:cs typeface="Poppins"/>
                <a:sym typeface="Poppins"/>
              </a:rPr>
              <a:t>Fakta_Akademik merekam aktivitas akademik: mahasiswa mengambil mata kuliah tertentu di semester tertentu dengan dosen tertentu.</a:t>
            </a:r>
          </a:p>
          <a:p>
            <a:pPr algn="just" marL="424160" indent="-212080" lvl="1">
              <a:lnSpc>
                <a:spcPts val="2750"/>
              </a:lnSpc>
              <a:buFont typeface="Arial"/>
              <a:buChar char="•"/>
            </a:pPr>
            <a:r>
              <a:rPr lang="en-US" sz="1964" spc="-82">
                <a:solidFill>
                  <a:srgbClr val="F4F4F4"/>
                </a:solidFill>
                <a:latin typeface="Poppins"/>
                <a:ea typeface="Poppins"/>
                <a:cs typeface="Poppins"/>
                <a:sym typeface="Poppins"/>
              </a:rPr>
              <a:t>Fakta_Publikasi merekam aktivitas penelitian: dosen mempublikasikan karya ilmiah pada jurnal tertentu pada waktu tertentu.</a:t>
            </a:r>
          </a:p>
          <a:p>
            <a:pPr algn="just" marL="424160" indent="-212080" lvl="1">
              <a:lnSpc>
                <a:spcPts val="2750"/>
              </a:lnSpc>
              <a:buFont typeface="Arial"/>
              <a:buChar char="•"/>
            </a:pPr>
            <a:r>
              <a:rPr lang="en-US" sz="1964" spc="-82">
                <a:solidFill>
                  <a:srgbClr val="F4F4F4"/>
                </a:solidFill>
                <a:latin typeface="Poppins"/>
                <a:ea typeface="Poppins"/>
                <a:cs typeface="Poppins"/>
                <a:sym typeface="Poppins"/>
              </a:rPr>
              <a:t>Dimensi pendukung:</a:t>
            </a:r>
          </a:p>
          <a:p>
            <a:pPr algn="just" marL="424160" indent="-212080" lvl="1">
              <a:lnSpc>
                <a:spcPts val="2750"/>
              </a:lnSpc>
              <a:buAutoNum type="arabicPeriod" startAt="1"/>
            </a:pPr>
            <a:r>
              <a:rPr lang="en-US" sz="1964" spc="-82">
                <a:solidFill>
                  <a:srgbClr val="F4F4F4"/>
                </a:solidFill>
                <a:latin typeface="Poppins"/>
                <a:ea typeface="Poppins"/>
                <a:cs typeface="Poppins"/>
                <a:sym typeface="Poppins"/>
              </a:rPr>
              <a:t> Dim_MataKuliah → konteks kurikulum</a:t>
            </a:r>
          </a:p>
          <a:p>
            <a:pPr algn="just" marL="424160" indent="-212080" lvl="1">
              <a:lnSpc>
                <a:spcPts val="2750"/>
              </a:lnSpc>
              <a:buAutoNum type="arabicPeriod" startAt="1"/>
            </a:pPr>
            <a:r>
              <a:rPr lang="en-US" sz="1964" spc="-82">
                <a:solidFill>
                  <a:srgbClr val="F4F4F4"/>
                </a:solidFill>
                <a:latin typeface="Poppins"/>
                <a:ea typeface="Poppins"/>
                <a:cs typeface="Poppins"/>
                <a:sym typeface="Poppins"/>
              </a:rPr>
              <a:t> Dim_Jurnal → metadata publikasi</a:t>
            </a:r>
          </a:p>
          <a:p>
            <a:pPr algn="just" marL="424160" indent="-212080" lvl="1">
              <a:lnSpc>
                <a:spcPts val="2750"/>
              </a:lnSpc>
              <a:buAutoNum type="arabicPeriod" startAt="1"/>
            </a:pPr>
            <a:r>
              <a:rPr lang="en-US" sz="1964" spc="-82">
                <a:solidFill>
                  <a:srgbClr val="F4F4F4"/>
                </a:solidFill>
                <a:latin typeface="Poppins"/>
                <a:ea typeface="Poppins"/>
                <a:cs typeface="Poppins"/>
                <a:sym typeface="Poppins"/>
              </a:rPr>
              <a:t> Dim_Prodi → identitas organisasi</a:t>
            </a:r>
          </a:p>
          <a:p>
            <a:pPr algn="just" marL="424160" indent="-212080" lvl="1">
              <a:lnSpc>
                <a:spcPts val="2750"/>
              </a:lnSpc>
              <a:buAutoNum type="arabicPeriod" startAt="1"/>
            </a:pPr>
            <a:r>
              <a:rPr lang="en-US" sz="1964" spc="-82">
                <a:solidFill>
                  <a:srgbClr val="F4F4F4"/>
                </a:solidFill>
                <a:latin typeface="Poppins"/>
                <a:ea typeface="Poppins"/>
                <a:cs typeface="Poppins"/>
                <a:sym typeface="Poppins"/>
              </a:rPr>
              <a:t> Dim_Waktu → analisis time-series</a:t>
            </a:r>
          </a:p>
          <a:p>
            <a:pPr algn="just" marL="424160" indent="-212080" lvl="1">
              <a:lnSpc>
                <a:spcPts val="2750"/>
              </a:lnSpc>
              <a:buFont typeface="Arial"/>
              <a:buChar char="•"/>
            </a:pPr>
            <a:r>
              <a:rPr lang="en-US" sz="1964" spc="-82">
                <a:solidFill>
                  <a:srgbClr val="F4F4F4"/>
                </a:solidFill>
                <a:latin typeface="Poppins"/>
                <a:ea typeface="Poppins"/>
                <a:cs typeface="Poppins"/>
                <a:sym typeface="Poppins"/>
              </a:rPr>
              <a:t>Desain multi-fact ini memungkinkan analisis lintas domain (akademik vs penelitian) menggunakan dimensi yang sama, sehingga warehouse bisa dipakai untuk integrated analytics seperti performa mahasiswa per prodi, produktivitas dosen, tren publikasi per tahun, dan korelasi beban ajar vs output penelitian.</a:t>
            </a:r>
          </a:p>
          <a:p>
            <a:pPr algn="just">
              <a:lnSpc>
                <a:spcPts val="2750"/>
              </a:lnSpc>
              <a:spcBef>
                <a:spcPct val="0"/>
              </a:spcBef>
            </a:pPr>
          </a:p>
        </p:txBody>
      </p:sp>
      <p:sp>
        <p:nvSpPr>
          <p:cNvPr name="TextBox 6" id="6"/>
          <p:cNvSpPr txBox="true"/>
          <p:nvPr/>
        </p:nvSpPr>
        <p:spPr>
          <a:xfrm rot="0">
            <a:off x="346897" y="1544686"/>
            <a:ext cx="6576648" cy="695886"/>
          </a:xfrm>
          <a:prstGeom prst="rect">
            <a:avLst/>
          </a:prstGeom>
        </p:spPr>
        <p:txBody>
          <a:bodyPr anchor="t" rtlCol="false" tIns="0" lIns="0" bIns="0" rIns="0">
            <a:spAutoFit/>
          </a:bodyPr>
          <a:lstStyle/>
          <a:p>
            <a:pPr algn="ctr">
              <a:lnSpc>
                <a:spcPts val="5784"/>
              </a:lnSpc>
            </a:pPr>
            <a:r>
              <a:rPr lang="en-US" sz="4131" b="true">
                <a:solidFill>
                  <a:srgbClr val="F4F4F4"/>
                </a:solidFill>
                <a:latin typeface="Canva Sans Bold"/>
                <a:ea typeface="Canva Sans Bold"/>
                <a:cs typeface="Canva Sans Bold"/>
                <a:sym typeface="Canva Sans Bold"/>
              </a:rPr>
              <a:t>Sistem Akdemik-Publikasi</a:t>
            </a:r>
          </a:p>
        </p:txBody>
      </p:sp>
    </p:spTree>
  </p:cSld>
  <p:clrMapOvr>
    <a:masterClrMapping/>
  </p:clrMapOvr>
</p:sld>
</file>

<file path=ppt/slides/slide9.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494416" y="2523299"/>
            <a:ext cx="19276832"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340701" y="909478"/>
            <a:ext cx="17606599" cy="1276350"/>
          </a:xfrm>
          <a:prstGeom prst="rect">
            <a:avLst/>
          </a:prstGeom>
        </p:spPr>
        <p:txBody>
          <a:bodyPr anchor="t" rtlCol="false" tIns="0" lIns="0" bIns="0" rIns="0">
            <a:spAutoFit/>
          </a:bodyPr>
          <a:lstStyle/>
          <a:p>
            <a:pPr algn="ctr">
              <a:lnSpc>
                <a:spcPts val="8835"/>
              </a:lnSpc>
            </a:pPr>
            <a:r>
              <a:rPr lang="en-US" b="true" sz="9300" spc="-390">
                <a:solidFill>
                  <a:srgbClr val="F4F4F4"/>
                </a:solidFill>
                <a:latin typeface="Poppins Medium"/>
                <a:ea typeface="Poppins Medium"/>
                <a:cs typeface="Poppins Medium"/>
                <a:sym typeface="Poppins Medium"/>
              </a:rPr>
              <a:t>Arsitektur Data WareHouse</a:t>
            </a:r>
          </a:p>
        </p:txBody>
      </p:sp>
      <p:sp>
        <p:nvSpPr>
          <p:cNvPr name="TextBox 4" id="4"/>
          <p:cNvSpPr txBox="true"/>
          <p:nvPr/>
        </p:nvSpPr>
        <p:spPr>
          <a:xfrm rot="0">
            <a:off x="1259053" y="3328271"/>
            <a:ext cx="16000247" cy="5352506"/>
          </a:xfrm>
          <a:prstGeom prst="rect">
            <a:avLst/>
          </a:prstGeom>
        </p:spPr>
        <p:txBody>
          <a:bodyPr anchor="t" rtlCol="false" tIns="0" lIns="0" bIns="0" rIns="0">
            <a:spAutoFit/>
          </a:bodyPr>
          <a:lstStyle/>
          <a:p>
            <a:pPr algn="l">
              <a:lnSpc>
                <a:spcPts val="4230"/>
              </a:lnSpc>
            </a:pPr>
            <a:r>
              <a:rPr lang="en-US" sz="3021" spc="-126">
                <a:solidFill>
                  <a:srgbClr val="F4F4F4"/>
                </a:solidFill>
                <a:latin typeface="Poppins"/>
                <a:ea typeface="Poppins"/>
                <a:cs typeface="Poppins"/>
                <a:sym typeface="Poppins"/>
              </a:rPr>
              <a:t>Arsitektur yang digunakan pada schema datawarehouse fakultas sains ini adalah Menggunakan pendekatan Kimball.</a:t>
            </a:r>
          </a:p>
          <a:p>
            <a:pPr algn="l">
              <a:lnSpc>
                <a:spcPts val="4230"/>
              </a:lnSpc>
            </a:pPr>
          </a:p>
          <a:p>
            <a:pPr algn="l">
              <a:lnSpc>
                <a:spcPts val="4230"/>
              </a:lnSpc>
            </a:pPr>
            <a:r>
              <a:rPr lang="en-US" sz="3021" spc="-126">
                <a:solidFill>
                  <a:srgbClr val="F4F4F4"/>
                </a:solidFill>
                <a:latin typeface="Poppins"/>
                <a:ea typeface="Poppins"/>
                <a:cs typeface="Poppins"/>
                <a:sym typeface="Poppins"/>
              </a:rPr>
              <a:t>Desain ini sangat intuitif dan mudah dipahami oleh pengguna non-teknis (misalnya, Rektor, Dekan, Kepala Program Studi). Mereka dapat dengan cepat mengidentifikasi apa yang mereka ukur (Fakta: nilai akademik, publikasi) dan konteks dari pengukuran tersebut (Dimensi: Mahasiswa, Dosen, Waktu, Prodi).</a:t>
            </a:r>
          </a:p>
          <a:p>
            <a:pPr algn="l">
              <a:lnSpc>
                <a:spcPts val="4230"/>
              </a:lnSpc>
            </a:pPr>
          </a:p>
          <a:p>
            <a:pPr algn="l">
              <a:lnSpc>
                <a:spcPts val="4230"/>
              </a:lnSpc>
              <a:spcBef>
                <a:spcPct val="0"/>
              </a:spcBef>
            </a:pPr>
            <a:r>
              <a:rPr lang="en-US" sz="3021" spc="-126">
                <a:solidFill>
                  <a:srgbClr val="F4F4F4"/>
                </a:solidFill>
                <a:latin typeface="Poppins"/>
                <a:ea typeface="Poppins"/>
                <a:cs typeface="Poppins"/>
                <a:sym typeface="Poppins"/>
              </a:rPr>
              <a:t>Skema Kimball sangat dioptimalkan untuk alat-alat BI dan OLAP, memungkinkan agregasi dan drill-down data secara cepat.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0" y="1460817"/>
            <a:ext cx="18288000" cy="0"/>
          </a:xfrm>
          <a:prstGeom prst="line">
            <a:avLst/>
          </a:prstGeom>
          <a:ln cap="rnd" w="9525">
            <a:solidFill>
              <a:srgbClr val="F4F4F4"/>
            </a:solidFill>
            <a:prstDash val="solid"/>
            <a:headEnd type="none" len="sm" w="sm"/>
            <a:tailEnd type="none" len="sm" w="sm"/>
          </a:ln>
        </p:spPr>
      </p:sp>
      <p:sp>
        <p:nvSpPr>
          <p:cNvPr name="Freeform 3" id="3"/>
          <p:cNvSpPr/>
          <p:nvPr/>
        </p:nvSpPr>
        <p:spPr>
          <a:xfrm flipH="false" flipV="false" rot="0">
            <a:off x="774498" y="1738358"/>
            <a:ext cx="16260737" cy="2086795"/>
          </a:xfrm>
          <a:custGeom>
            <a:avLst/>
            <a:gdLst/>
            <a:ahLst/>
            <a:cxnLst/>
            <a:rect r="r" b="b" t="t" l="l"/>
            <a:pathLst>
              <a:path h="2086795" w="16260737">
                <a:moveTo>
                  <a:pt x="0" y="0"/>
                </a:moveTo>
                <a:lnTo>
                  <a:pt x="16260737" y="0"/>
                </a:lnTo>
                <a:lnTo>
                  <a:pt x="16260737" y="2086794"/>
                </a:lnTo>
                <a:lnTo>
                  <a:pt x="0" y="2086794"/>
                </a:lnTo>
                <a:lnTo>
                  <a:pt x="0" y="0"/>
                </a:lnTo>
                <a:close/>
              </a:path>
            </a:pathLst>
          </a:custGeom>
          <a:blipFill>
            <a:blip r:embed="rId2"/>
            <a:stretch>
              <a:fillRect l="0" t="0" r="0" b="0"/>
            </a:stretch>
          </a:blipFill>
        </p:spPr>
      </p:sp>
      <p:sp>
        <p:nvSpPr>
          <p:cNvPr name="TextBox 4" id="4"/>
          <p:cNvSpPr txBox="true"/>
          <p:nvPr/>
        </p:nvSpPr>
        <p:spPr>
          <a:xfrm rot="0">
            <a:off x="283759" y="677545"/>
            <a:ext cx="16751476" cy="778510"/>
          </a:xfrm>
          <a:prstGeom prst="rect">
            <a:avLst/>
          </a:prstGeom>
        </p:spPr>
        <p:txBody>
          <a:bodyPr anchor="t" rtlCol="false" tIns="0" lIns="0" bIns="0" rIns="0">
            <a:spAutoFit/>
          </a:bodyPr>
          <a:lstStyle/>
          <a:p>
            <a:pPr algn="l">
              <a:lnSpc>
                <a:spcPts val="5338"/>
              </a:lnSpc>
            </a:pPr>
            <a:r>
              <a:rPr lang="en-US" sz="5619" spc="-236">
                <a:solidFill>
                  <a:srgbClr val="F4F4F4"/>
                </a:solidFill>
                <a:latin typeface="Poppins"/>
                <a:ea typeface="Poppins"/>
                <a:cs typeface="Poppins"/>
                <a:sym typeface="Poppins"/>
              </a:rPr>
              <a:t>ETL Arsitektur - Bronze, Silver, Gold Data Pipeline</a:t>
            </a:r>
          </a:p>
        </p:txBody>
      </p:sp>
      <p:sp>
        <p:nvSpPr>
          <p:cNvPr name="TextBox 5" id="5"/>
          <p:cNvSpPr txBox="true"/>
          <p:nvPr/>
        </p:nvSpPr>
        <p:spPr>
          <a:xfrm rot="0">
            <a:off x="774498" y="4072802"/>
            <a:ext cx="14653799" cy="5718663"/>
          </a:xfrm>
          <a:prstGeom prst="rect">
            <a:avLst/>
          </a:prstGeom>
        </p:spPr>
        <p:txBody>
          <a:bodyPr anchor="t" rtlCol="false" tIns="0" lIns="0" bIns="0" rIns="0">
            <a:spAutoFit/>
          </a:bodyPr>
          <a:lstStyle/>
          <a:p>
            <a:pPr algn="just" marL="468456" indent="-234228" lvl="1">
              <a:lnSpc>
                <a:spcPts val="3037"/>
              </a:lnSpc>
              <a:buFont typeface="Arial"/>
              <a:buChar char="•"/>
            </a:pPr>
            <a:r>
              <a:rPr lang="en-US" sz="2169">
                <a:solidFill>
                  <a:srgbClr val="F4F4F4"/>
                </a:solidFill>
                <a:latin typeface="Canva Sans"/>
                <a:ea typeface="Canva Sans"/>
                <a:cs typeface="Canva Sans"/>
                <a:sym typeface="Canva Sans"/>
              </a:rPr>
              <a:t>Layer 1 – Data Sources </a:t>
            </a:r>
          </a:p>
          <a:p>
            <a:pPr algn="just">
              <a:lnSpc>
                <a:spcPts val="3037"/>
              </a:lnSpc>
            </a:pPr>
            <a:r>
              <a:rPr lang="en-US" sz="2169">
                <a:solidFill>
                  <a:srgbClr val="F4F4F4"/>
                </a:solidFill>
                <a:latin typeface="Canva Sans"/>
                <a:ea typeface="Canva Sans"/>
                <a:cs typeface="Canva Sans"/>
                <a:sym typeface="Canva Sans"/>
              </a:rPr>
              <a:t> </a:t>
            </a:r>
            <a:r>
              <a:rPr lang="en-US" sz="2169">
                <a:solidFill>
                  <a:srgbClr val="F4F4F4"/>
                </a:solidFill>
                <a:latin typeface="Canva Sans"/>
                <a:ea typeface="Canva Sans"/>
                <a:cs typeface="Canva Sans"/>
                <a:sym typeface="Canva Sans"/>
              </a:rPr>
              <a:t>Data </a:t>
            </a:r>
            <a:r>
              <a:rPr lang="en-US" sz="2169">
                <a:solidFill>
                  <a:srgbClr val="F4F4F4"/>
                </a:solidFill>
                <a:latin typeface="Canva Sans"/>
                <a:ea typeface="Canva Sans"/>
                <a:cs typeface="Canva Sans"/>
                <a:sym typeface="Canva Sans"/>
              </a:rPr>
              <a:t>diambil dari dua sumber utama:</a:t>
            </a:r>
          </a:p>
          <a:p>
            <a:pPr algn="just">
              <a:lnSpc>
                <a:spcPts val="3037"/>
              </a:lnSpc>
            </a:pPr>
            <a:r>
              <a:rPr lang="en-US" sz="2169">
                <a:solidFill>
                  <a:srgbClr val="F4F4F4"/>
                </a:solidFill>
                <a:latin typeface="Canva Sans"/>
                <a:ea typeface="Canva Sans"/>
                <a:cs typeface="Canva Sans"/>
                <a:sym typeface="Canva Sans"/>
              </a:rPr>
              <a:t> (1) Physical sources berupa file CSV sebagai master data,</a:t>
            </a:r>
          </a:p>
          <a:p>
            <a:pPr algn="just">
              <a:lnSpc>
                <a:spcPts val="3037"/>
              </a:lnSpc>
            </a:pPr>
            <a:r>
              <a:rPr lang="en-US" sz="2169">
                <a:solidFill>
                  <a:srgbClr val="F4F4F4"/>
                </a:solidFill>
                <a:latin typeface="Canva Sans"/>
                <a:ea typeface="Canva Sans"/>
                <a:cs typeface="Canva Sans"/>
                <a:sym typeface="Canva Sans"/>
              </a:rPr>
              <a:t> (2) Logical sources berupa SQL rules sebagai data transaksi</a:t>
            </a:r>
          </a:p>
          <a:p>
            <a:pPr algn="just" marL="468456" indent="-234228" lvl="1">
              <a:lnSpc>
                <a:spcPts val="3037"/>
              </a:lnSpc>
              <a:buFont typeface="Arial"/>
              <a:buChar char="•"/>
            </a:pPr>
            <a:r>
              <a:rPr lang="en-US" sz="2169">
                <a:solidFill>
                  <a:srgbClr val="F4F4F4"/>
                </a:solidFill>
                <a:latin typeface="Canva Sans"/>
                <a:ea typeface="Canva Sans"/>
                <a:cs typeface="Canva Sans"/>
                <a:sym typeface="Canva Sans"/>
              </a:rPr>
              <a:t>Layer 2 – Bronze Layer (Raw Data)</a:t>
            </a:r>
          </a:p>
          <a:p>
            <a:pPr algn="just">
              <a:lnSpc>
                <a:spcPts val="3037"/>
              </a:lnSpc>
            </a:pPr>
            <a:r>
              <a:rPr lang="en-US" sz="2169">
                <a:solidFill>
                  <a:srgbClr val="F4F4F4"/>
                </a:solidFill>
                <a:latin typeface="Canva Sans"/>
                <a:ea typeface="Canva Sans"/>
                <a:cs typeface="Canva Sans"/>
                <a:sym typeface="Canva Sans"/>
              </a:rPr>
              <a:t>Data dari berbagai sumber di-extract dan dimuat apa adanya ke  schema Raw  menggunakan dua alat:</a:t>
            </a:r>
          </a:p>
          <a:p>
            <a:pPr algn="just">
              <a:lnSpc>
                <a:spcPts val="3037"/>
              </a:lnSpc>
            </a:pPr>
            <a:r>
              <a:rPr lang="en-US" sz="2169">
                <a:solidFill>
                  <a:srgbClr val="F4F4F4"/>
                </a:solidFill>
                <a:latin typeface="Canva Sans"/>
                <a:ea typeface="Canva Sans"/>
                <a:cs typeface="Canva Sans"/>
                <a:sym typeface="Canva Sans"/>
              </a:rPr>
              <a:t> Import Wizard untuk CSV dan SQL Generator untuk data rule.</a:t>
            </a:r>
          </a:p>
          <a:p>
            <a:pPr algn="just" marL="468456" indent="-234228" lvl="1">
              <a:lnSpc>
                <a:spcPts val="3037"/>
              </a:lnSpc>
              <a:buFont typeface="Arial"/>
              <a:buChar char="•"/>
            </a:pPr>
            <a:r>
              <a:rPr lang="en-US" sz="2169">
                <a:solidFill>
                  <a:srgbClr val="F4F4F4"/>
                </a:solidFill>
                <a:latin typeface="Canva Sans"/>
                <a:ea typeface="Canva Sans"/>
                <a:cs typeface="Canva Sans"/>
                <a:sym typeface="Canva Sans"/>
              </a:rPr>
              <a:t>Layer 3 – Silver Layer (Staging &amp; Validation)</a:t>
            </a:r>
          </a:p>
          <a:p>
            <a:pPr algn="just">
              <a:lnSpc>
                <a:spcPts val="3037"/>
              </a:lnSpc>
            </a:pPr>
            <a:r>
              <a:rPr lang="en-US" sz="2169">
                <a:solidFill>
                  <a:srgbClr val="F4F4F4"/>
                </a:solidFill>
                <a:latin typeface="Canva Sans"/>
                <a:ea typeface="Canva Sans"/>
                <a:cs typeface="Canva Sans"/>
                <a:sym typeface="Canva Sans"/>
              </a:rPr>
              <a:t>Di tahap ini dilakukan integrity check termasuk validasi hubungan PK–FK dan pembersihan data dasar.</a:t>
            </a:r>
          </a:p>
          <a:p>
            <a:pPr algn="just">
              <a:lnSpc>
                <a:spcPts val="3037"/>
              </a:lnSpc>
            </a:pPr>
            <a:r>
              <a:rPr lang="en-US" sz="2169">
                <a:solidFill>
                  <a:srgbClr val="F4F4F4"/>
                </a:solidFill>
                <a:latin typeface="Canva Sans"/>
                <a:ea typeface="Canva Sans"/>
                <a:cs typeface="Canva Sans"/>
                <a:sym typeface="Canva Sans"/>
              </a:rPr>
              <a:t>Outputnya adalah data terverifikasi yang dimasukkan ke schema stg.</a:t>
            </a:r>
          </a:p>
          <a:p>
            <a:pPr algn="just" marL="468456" indent="-234228" lvl="1">
              <a:lnSpc>
                <a:spcPts val="3037"/>
              </a:lnSpc>
              <a:buFont typeface="Arial"/>
              <a:buChar char="•"/>
            </a:pPr>
            <a:r>
              <a:rPr lang="en-US" sz="2169">
                <a:solidFill>
                  <a:srgbClr val="F4F4F4"/>
                </a:solidFill>
                <a:latin typeface="Canva Sans"/>
                <a:ea typeface="Canva Sans"/>
                <a:cs typeface="Canva Sans"/>
                <a:sym typeface="Canva Sans"/>
              </a:rPr>
              <a:t>Layer 4 – Gold Layer (Data Warehouse)</a:t>
            </a:r>
          </a:p>
          <a:p>
            <a:pPr algn="just">
              <a:lnSpc>
                <a:spcPts val="3037"/>
              </a:lnSpc>
            </a:pPr>
            <a:r>
              <a:rPr lang="en-US" sz="2169">
                <a:solidFill>
                  <a:srgbClr val="F4F4F4"/>
                </a:solidFill>
                <a:latin typeface="Canva Sans"/>
                <a:ea typeface="Canva Sans"/>
                <a:cs typeface="Canva Sans"/>
                <a:sym typeface="Canva Sans"/>
              </a:rPr>
              <a:t>Seluruh proses transformasi lanjutan dilakukan melalui Stored Procedures, termasuk penerapan SCD Type 2 untuk menjaga histori perubahan.</a:t>
            </a:r>
          </a:p>
          <a:p>
            <a:pPr algn="just">
              <a:lnSpc>
                <a:spcPts val="3037"/>
              </a:lnSpc>
            </a:pPr>
            <a:r>
              <a:rPr lang="en-US" sz="2169">
                <a:solidFill>
                  <a:srgbClr val="F4F4F4"/>
                </a:solidFill>
                <a:latin typeface="Canva Sans"/>
                <a:ea typeface="Canva Sans"/>
                <a:cs typeface="Canva Sans"/>
                <a:sym typeface="Canva Sans"/>
              </a:rPr>
              <a:t>Layer 5 – Presentation</a:t>
            </a:r>
          </a:p>
          <a:p>
            <a:pPr algn="just">
              <a:lnSpc>
                <a:spcPts val="3037"/>
              </a:lnSpc>
            </a:pPr>
            <a:r>
              <a:rPr lang="en-US" sz="2169">
                <a:solidFill>
                  <a:srgbClr val="F4F4F4"/>
                </a:solidFill>
                <a:latin typeface="Canva Sans"/>
                <a:ea typeface="Canva Sans"/>
                <a:cs typeface="Canva Sans"/>
                <a:sym typeface="Canva Sans"/>
              </a:rPr>
              <a:t> Data warehouse kemudian dianalisis melalui Power BI menggunakan mode Import untuk performa optimal.</a:t>
            </a:r>
          </a:p>
        </p:txBody>
      </p:sp>
    </p:spTree>
  </p:cSld>
  <p:clrMapOvr>
    <a:masterClrMapping/>
  </p:clrMapOvr>
</p:sld>
</file>

<file path=ppt/slides/slide11.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494416" y="1765642"/>
            <a:ext cx="19276832"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326552" y="2769180"/>
            <a:ext cx="17634895" cy="4125925"/>
          </a:xfrm>
          <a:prstGeom prst="rect">
            <a:avLst/>
          </a:prstGeom>
        </p:spPr>
        <p:txBody>
          <a:bodyPr anchor="t" rtlCol="false" tIns="0" lIns="0" bIns="0" rIns="0">
            <a:spAutoFit/>
          </a:bodyPr>
          <a:lstStyle/>
          <a:p>
            <a:pPr algn="l" marL="718972" indent="-359486" lvl="1">
              <a:lnSpc>
                <a:spcPts val="4662"/>
              </a:lnSpc>
              <a:buFont typeface="Arial"/>
              <a:buChar char="•"/>
            </a:pPr>
            <a:r>
              <a:rPr lang="en-US" sz="3330" spc="-139">
                <a:solidFill>
                  <a:srgbClr val="F4F4F4"/>
                </a:solidFill>
                <a:latin typeface="Poppins"/>
                <a:ea typeface="Poppins"/>
                <a:cs typeface="Poppins"/>
                <a:sym typeface="Poppins"/>
              </a:rPr>
              <a:t>Teknologi: SQL Server + SSIS (Import Wizard) + T-SQL Stored Procedures.</a:t>
            </a:r>
          </a:p>
          <a:p>
            <a:pPr algn="l" marL="718972" indent="-359486" lvl="1">
              <a:lnSpc>
                <a:spcPts val="4662"/>
              </a:lnSpc>
              <a:buFont typeface="Arial"/>
              <a:buChar char="•"/>
            </a:pPr>
            <a:r>
              <a:rPr lang="en-US" sz="3330" spc="-139">
                <a:solidFill>
                  <a:srgbClr val="F4F4F4"/>
                </a:solidFill>
                <a:latin typeface="Poppins"/>
                <a:ea typeface="Poppins"/>
                <a:cs typeface="Poppins"/>
                <a:sym typeface="Poppins"/>
              </a:rPr>
              <a:t>Orkestrasi: Menggunakan Stored Procedures (usp_Master_ETL) sebagai mesin utama transformasi .</a:t>
            </a:r>
          </a:p>
          <a:p>
            <a:pPr algn="l" marL="718972" indent="-359486" lvl="1">
              <a:lnSpc>
                <a:spcPts val="4662"/>
              </a:lnSpc>
              <a:buFont typeface="Arial"/>
              <a:buChar char="•"/>
            </a:pPr>
            <a:r>
              <a:rPr lang="en-US" sz="3330" spc="-139">
                <a:solidFill>
                  <a:srgbClr val="F4F4F4"/>
                </a:solidFill>
                <a:latin typeface="Poppins"/>
                <a:ea typeface="Poppins"/>
                <a:cs typeface="Poppins"/>
                <a:sym typeface="Poppins"/>
              </a:rPr>
              <a:t>Fitur Utama:</a:t>
            </a:r>
          </a:p>
          <a:p>
            <a:pPr algn="l">
              <a:lnSpc>
                <a:spcPts val="4662"/>
              </a:lnSpc>
            </a:pPr>
            <a:r>
              <a:rPr lang="en-US" sz="3330" spc="-139">
                <a:solidFill>
                  <a:srgbClr val="F4F4F4"/>
                </a:solidFill>
                <a:latin typeface="Poppins"/>
                <a:ea typeface="Poppins"/>
                <a:cs typeface="Poppins"/>
                <a:sym typeface="Poppins"/>
              </a:rPr>
              <a:t>       (1) </a:t>
            </a:r>
            <a:r>
              <a:rPr lang="en-US" sz="3330" spc="-139">
                <a:solidFill>
                  <a:srgbClr val="F4F4F4"/>
                </a:solidFill>
                <a:latin typeface="Poppins"/>
                <a:ea typeface="Poppins"/>
                <a:cs typeface="Poppins"/>
                <a:sym typeface="Poppins"/>
              </a:rPr>
              <a:t>Data Cleansing (Standardisasi Nama).</a:t>
            </a:r>
          </a:p>
          <a:p>
            <a:pPr algn="l">
              <a:lnSpc>
                <a:spcPts val="4662"/>
              </a:lnSpc>
              <a:spcBef>
                <a:spcPct val="0"/>
              </a:spcBef>
            </a:pPr>
            <a:r>
              <a:rPr lang="en-US" sz="3330" spc="-139">
                <a:solidFill>
                  <a:srgbClr val="F4F4F4"/>
                </a:solidFill>
                <a:latin typeface="Poppins"/>
                <a:ea typeface="Poppins"/>
                <a:cs typeface="Poppins"/>
                <a:sym typeface="Poppins"/>
              </a:rPr>
              <a:t>      (2) Lookup Surrogate Keys (Mengganti NIM/NIP dengan ID Integer).</a:t>
            </a:r>
          </a:p>
          <a:p>
            <a:pPr algn="l">
              <a:lnSpc>
                <a:spcPts val="4662"/>
              </a:lnSpc>
              <a:spcBef>
                <a:spcPct val="0"/>
              </a:spcBef>
            </a:pPr>
          </a:p>
        </p:txBody>
      </p:sp>
      <p:sp>
        <p:nvSpPr>
          <p:cNvPr name="TextBox 4" id="4"/>
          <p:cNvSpPr txBox="true"/>
          <p:nvPr/>
        </p:nvSpPr>
        <p:spPr>
          <a:xfrm rot="0">
            <a:off x="-494416" y="442849"/>
            <a:ext cx="14875623" cy="1009777"/>
          </a:xfrm>
          <a:prstGeom prst="rect">
            <a:avLst/>
          </a:prstGeom>
        </p:spPr>
        <p:txBody>
          <a:bodyPr anchor="t" rtlCol="false" tIns="0" lIns="0" bIns="0" rIns="0">
            <a:spAutoFit/>
          </a:bodyPr>
          <a:lstStyle/>
          <a:p>
            <a:pPr algn="ctr">
              <a:lnSpc>
                <a:spcPts val="7867"/>
              </a:lnSpc>
              <a:spcBef>
                <a:spcPct val="0"/>
              </a:spcBef>
            </a:pPr>
            <a:r>
              <a:rPr lang="en-US" b="true" sz="5619" spc="-236">
                <a:solidFill>
                  <a:srgbClr val="F4F4F4"/>
                </a:solidFill>
                <a:latin typeface="Poppins Medium"/>
                <a:ea typeface="Poppins Medium"/>
                <a:cs typeface="Poppins Medium"/>
                <a:sym typeface="Poppins Medium"/>
              </a:rPr>
              <a:t> Implementasi ETL &amp; Logika Transformasi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494416" y="1765642"/>
            <a:ext cx="19276832" cy="0"/>
          </a:xfrm>
          <a:prstGeom prst="line">
            <a:avLst/>
          </a:prstGeom>
          <a:ln cap="rnd" w="9525">
            <a:solidFill>
              <a:srgbClr val="F4F4F4"/>
            </a:solidFill>
            <a:prstDash val="solid"/>
            <a:headEnd type="none" len="sm" w="sm"/>
            <a:tailEnd type="none" len="sm" w="sm"/>
          </a:ln>
        </p:spPr>
      </p:sp>
      <p:sp>
        <p:nvSpPr>
          <p:cNvPr name="Freeform 3" id="3"/>
          <p:cNvSpPr/>
          <p:nvPr/>
        </p:nvSpPr>
        <p:spPr>
          <a:xfrm flipH="false" flipV="false" rot="0">
            <a:off x="509458" y="1967602"/>
            <a:ext cx="6890633" cy="2245923"/>
          </a:xfrm>
          <a:custGeom>
            <a:avLst/>
            <a:gdLst/>
            <a:ahLst/>
            <a:cxnLst/>
            <a:rect r="r" b="b" t="t" l="l"/>
            <a:pathLst>
              <a:path h="2245923" w="6890633">
                <a:moveTo>
                  <a:pt x="0" y="0"/>
                </a:moveTo>
                <a:lnTo>
                  <a:pt x="6890632" y="0"/>
                </a:lnTo>
                <a:lnTo>
                  <a:pt x="6890632" y="2245923"/>
                </a:lnTo>
                <a:lnTo>
                  <a:pt x="0" y="2245923"/>
                </a:lnTo>
                <a:lnTo>
                  <a:pt x="0" y="0"/>
                </a:lnTo>
                <a:close/>
              </a:path>
            </a:pathLst>
          </a:custGeom>
          <a:blipFill>
            <a:blip r:embed="rId2"/>
            <a:stretch>
              <a:fillRect l="0" t="0" r="0" b="0"/>
            </a:stretch>
          </a:blipFill>
        </p:spPr>
      </p:sp>
      <p:sp>
        <p:nvSpPr>
          <p:cNvPr name="TextBox 4" id="4"/>
          <p:cNvSpPr txBox="true"/>
          <p:nvPr/>
        </p:nvSpPr>
        <p:spPr>
          <a:xfrm rot="0">
            <a:off x="263241" y="4344047"/>
            <a:ext cx="12658727" cy="3580765"/>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F4F4F4"/>
                </a:solidFill>
                <a:latin typeface="Canva Sans"/>
                <a:ea typeface="Canva Sans"/>
                <a:cs typeface="Canva Sans"/>
                <a:sym typeface="Canva Sans"/>
              </a:rPr>
              <a:t>Masalah: Bagaimana jika </a:t>
            </a:r>
            <a:r>
              <a:rPr lang="en-US" sz="3399">
                <a:solidFill>
                  <a:srgbClr val="F4F4F4"/>
                </a:solidFill>
                <a:latin typeface="Canva Sans"/>
                <a:ea typeface="Canva Sans"/>
                <a:cs typeface="Canva Sans"/>
                <a:sym typeface="Canva Sans"/>
              </a:rPr>
              <a:t>data Dosen berubah jabatan atau Mahasiswa pindah prodi?</a:t>
            </a:r>
          </a:p>
          <a:p>
            <a:pPr algn="l" marL="734059" indent="-367030" lvl="1">
              <a:lnSpc>
                <a:spcPts val="4759"/>
              </a:lnSpc>
              <a:buFont typeface="Arial"/>
              <a:buChar char="•"/>
            </a:pPr>
            <a:r>
              <a:rPr lang="en-US" sz="3399">
                <a:solidFill>
                  <a:srgbClr val="F4F4F4"/>
                </a:solidFill>
                <a:latin typeface="Canva Sans"/>
                <a:ea typeface="Canva Sans"/>
                <a:cs typeface="Canva Sans"/>
                <a:sym typeface="Canva Sans"/>
              </a:rPr>
              <a:t>Solusi: Implementasi SCD Type 2. Kami tidak menimpa data lama, tapi menutup masa berlakunya (Expire) dan membuat baris baru. Sejarah data terjaga utuh .</a:t>
            </a:r>
          </a:p>
          <a:p>
            <a:pPr algn="l">
              <a:lnSpc>
                <a:spcPts val="4759"/>
              </a:lnSpc>
            </a:pPr>
          </a:p>
        </p:txBody>
      </p:sp>
      <p:sp>
        <p:nvSpPr>
          <p:cNvPr name="Freeform 5" id="5"/>
          <p:cNvSpPr/>
          <p:nvPr/>
        </p:nvSpPr>
        <p:spPr>
          <a:xfrm flipH="false" flipV="false" rot="0">
            <a:off x="7701052" y="1967602"/>
            <a:ext cx="4986164" cy="2245923"/>
          </a:xfrm>
          <a:custGeom>
            <a:avLst/>
            <a:gdLst/>
            <a:ahLst/>
            <a:cxnLst/>
            <a:rect r="r" b="b" t="t" l="l"/>
            <a:pathLst>
              <a:path h="2245923" w="4986164">
                <a:moveTo>
                  <a:pt x="0" y="0"/>
                </a:moveTo>
                <a:lnTo>
                  <a:pt x="4986164" y="0"/>
                </a:lnTo>
                <a:lnTo>
                  <a:pt x="4986164" y="2245923"/>
                </a:lnTo>
                <a:lnTo>
                  <a:pt x="0" y="2245923"/>
                </a:lnTo>
                <a:lnTo>
                  <a:pt x="0" y="0"/>
                </a:lnTo>
                <a:close/>
              </a:path>
            </a:pathLst>
          </a:custGeom>
          <a:blipFill>
            <a:blip r:embed="rId3"/>
            <a:stretch>
              <a:fillRect l="0" t="0" r="0" b="0"/>
            </a:stretch>
          </a:blipFill>
        </p:spPr>
      </p:sp>
      <p:sp>
        <p:nvSpPr>
          <p:cNvPr name="TextBox 6" id="6"/>
          <p:cNvSpPr txBox="true"/>
          <p:nvPr/>
        </p:nvSpPr>
        <p:spPr>
          <a:xfrm rot="0">
            <a:off x="263241" y="442849"/>
            <a:ext cx="14875623" cy="1009777"/>
          </a:xfrm>
          <a:prstGeom prst="rect">
            <a:avLst/>
          </a:prstGeom>
        </p:spPr>
        <p:txBody>
          <a:bodyPr anchor="t" rtlCol="false" tIns="0" lIns="0" bIns="0" rIns="0">
            <a:spAutoFit/>
          </a:bodyPr>
          <a:lstStyle/>
          <a:p>
            <a:pPr algn="l">
              <a:lnSpc>
                <a:spcPts val="7867"/>
              </a:lnSpc>
              <a:spcBef>
                <a:spcPct val="0"/>
              </a:spcBef>
            </a:pPr>
            <a:r>
              <a:rPr lang="en-US" b="true" sz="5619" spc="-236">
                <a:solidFill>
                  <a:srgbClr val="F4F4F4"/>
                </a:solidFill>
                <a:latin typeface="Poppins Medium"/>
                <a:ea typeface="Poppins Medium"/>
                <a:cs typeface="Poppins Medium"/>
                <a:sym typeface="Poppins Medium"/>
              </a:rPr>
              <a:t>Hand</a:t>
            </a:r>
            <a:r>
              <a:rPr lang="en-US" b="true" sz="5619" spc="-236">
                <a:solidFill>
                  <a:srgbClr val="F4F4F4"/>
                </a:solidFill>
                <a:latin typeface="Poppins Medium"/>
                <a:ea typeface="Poppins Medium"/>
                <a:cs typeface="Poppins Medium"/>
                <a:sym typeface="Poppins Medium"/>
              </a:rPr>
              <a:t>ling History (SCD Type 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494416" y="1765642"/>
            <a:ext cx="19276832" cy="0"/>
          </a:xfrm>
          <a:prstGeom prst="line">
            <a:avLst/>
          </a:prstGeom>
          <a:ln cap="rnd" w="9525">
            <a:solidFill>
              <a:srgbClr val="F4F4F4"/>
            </a:solidFill>
            <a:prstDash val="solid"/>
            <a:headEnd type="none" len="sm" w="sm"/>
            <a:tailEnd type="none" len="sm" w="sm"/>
          </a:ln>
        </p:spPr>
      </p:sp>
      <p:sp>
        <p:nvSpPr>
          <p:cNvPr name="Freeform 3" id="3"/>
          <p:cNvSpPr/>
          <p:nvPr/>
        </p:nvSpPr>
        <p:spPr>
          <a:xfrm flipH="false" flipV="false" rot="0">
            <a:off x="452655" y="2352329"/>
            <a:ext cx="9739053" cy="815646"/>
          </a:xfrm>
          <a:custGeom>
            <a:avLst/>
            <a:gdLst/>
            <a:ahLst/>
            <a:cxnLst/>
            <a:rect r="r" b="b" t="t" l="l"/>
            <a:pathLst>
              <a:path h="815646" w="9739053">
                <a:moveTo>
                  <a:pt x="0" y="0"/>
                </a:moveTo>
                <a:lnTo>
                  <a:pt x="9739053" y="0"/>
                </a:lnTo>
                <a:lnTo>
                  <a:pt x="9739053" y="815646"/>
                </a:lnTo>
                <a:lnTo>
                  <a:pt x="0" y="815646"/>
                </a:lnTo>
                <a:lnTo>
                  <a:pt x="0" y="0"/>
                </a:lnTo>
                <a:close/>
              </a:path>
            </a:pathLst>
          </a:custGeom>
          <a:blipFill>
            <a:blip r:embed="rId2"/>
            <a:stretch>
              <a:fillRect l="0" t="0" r="0" b="0"/>
            </a:stretch>
          </a:blipFill>
        </p:spPr>
      </p:sp>
      <p:sp>
        <p:nvSpPr>
          <p:cNvPr name="Freeform 4" id="4"/>
          <p:cNvSpPr/>
          <p:nvPr/>
        </p:nvSpPr>
        <p:spPr>
          <a:xfrm flipH="false" flipV="false" rot="0">
            <a:off x="263241" y="5697969"/>
            <a:ext cx="11301259" cy="819341"/>
          </a:xfrm>
          <a:custGeom>
            <a:avLst/>
            <a:gdLst/>
            <a:ahLst/>
            <a:cxnLst/>
            <a:rect r="r" b="b" t="t" l="l"/>
            <a:pathLst>
              <a:path h="819341" w="11301259">
                <a:moveTo>
                  <a:pt x="0" y="0"/>
                </a:moveTo>
                <a:lnTo>
                  <a:pt x="11301259" y="0"/>
                </a:lnTo>
                <a:lnTo>
                  <a:pt x="11301259" y="819341"/>
                </a:lnTo>
                <a:lnTo>
                  <a:pt x="0" y="819341"/>
                </a:lnTo>
                <a:lnTo>
                  <a:pt x="0" y="0"/>
                </a:lnTo>
                <a:close/>
              </a:path>
            </a:pathLst>
          </a:custGeom>
          <a:blipFill>
            <a:blip r:embed="rId3"/>
            <a:stretch>
              <a:fillRect l="0" t="0" r="0" b="0"/>
            </a:stretch>
          </a:blipFill>
        </p:spPr>
      </p:sp>
      <p:sp>
        <p:nvSpPr>
          <p:cNvPr name="TextBox 5" id="5"/>
          <p:cNvSpPr txBox="true"/>
          <p:nvPr/>
        </p:nvSpPr>
        <p:spPr>
          <a:xfrm rot="0">
            <a:off x="263241" y="442849"/>
            <a:ext cx="14875623" cy="1009777"/>
          </a:xfrm>
          <a:prstGeom prst="rect">
            <a:avLst/>
          </a:prstGeom>
        </p:spPr>
        <p:txBody>
          <a:bodyPr anchor="t" rtlCol="false" tIns="0" lIns="0" bIns="0" rIns="0">
            <a:spAutoFit/>
          </a:bodyPr>
          <a:lstStyle/>
          <a:p>
            <a:pPr algn="l">
              <a:lnSpc>
                <a:spcPts val="7867"/>
              </a:lnSpc>
              <a:spcBef>
                <a:spcPct val="0"/>
              </a:spcBef>
            </a:pPr>
            <a:r>
              <a:rPr lang="en-US" b="true" sz="5619" spc="-236">
                <a:solidFill>
                  <a:srgbClr val="F4F4F4"/>
                </a:solidFill>
                <a:latin typeface="Poppins Medium"/>
                <a:ea typeface="Poppins Medium"/>
                <a:cs typeface="Poppins Medium"/>
                <a:sym typeface="Poppins Medium"/>
              </a:rPr>
              <a:t>Hand</a:t>
            </a:r>
            <a:r>
              <a:rPr lang="en-US" b="true" sz="5619" spc="-236">
                <a:solidFill>
                  <a:srgbClr val="F4F4F4"/>
                </a:solidFill>
                <a:latin typeface="Poppins Medium"/>
                <a:ea typeface="Poppins Medium"/>
                <a:cs typeface="Poppins Medium"/>
                <a:sym typeface="Poppins Medium"/>
              </a:rPr>
              <a:t>ling History (SCD Type 2)</a:t>
            </a:r>
          </a:p>
        </p:txBody>
      </p:sp>
      <p:sp>
        <p:nvSpPr>
          <p:cNvPr name="TextBox 6" id="6"/>
          <p:cNvSpPr txBox="true"/>
          <p:nvPr/>
        </p:nvSpPr>
        <p:spPr>
          <a:xfrm rot="0">
            <a:off x="452655" y="3509364"/>
            <a:ext cx="10546318" cy="1780540"/>
          </a:xfrm>
          <a:prstGeom prst="rect">
            <a:avLst/>
          </a:prstGeom>
        </p:spPr>
        <p:txBody>
          <a:bodyPr anchor="t" rtlCol="false" tIns="0" lIns="0" bIns="0" rIns="0">
            <a:spAutoFit/>
          </a:bodyPr>
          <a:lstStyle/>
          <a:p>
            <a:pPr algn="l">
              <a:lnSpc>
                <a:spcPts val="4759"/>
              </a:lnSpc>
            </a:pPr>
            <a:r>
              <a:rPr lang="en-US" sz="3399">
                <a:solidFill>
                  <a:srgbClr val="F4F4F4"/>
                </a:solidFill>
                <a:latin typeface="Canva Sans"/>
                <a:ea typeface="Canva Sans"/>
                <a:cs typeface="Canva Sans"/>
                <a:sym typeface="Canva Sans"/>
              </a:rPr>
              <a:t>Di sisi</a:t>
            </a:r>
            <a:r>
              <a:rPr lang="en-US" sz="3399">
                <a:solidFill>
                  <a:srgbClr val="F4F4F4"/>
                </a:solidFill>
                <a:latin typeface="Canva Sans"/>
                <a:ea typeface="Canva Sans"/>
                <a:cs typeface="Canva Sans"/>
                <a:sym typeface="Canva Sans"/>
              </a:rPr>
              <a:t> Database: Sistem otomatis menutup masa berlaku data lama (IsCurrent=0) dan membuat Surrogate Key baru (ID=252) saat jabatan berubah.</a:t>
            </a:r>
          </a:p>
        </p:txBody>
      </p:sp>
      <p:sp>
        <p:nvSpPr>
          <p:cNvPr name="TextBox 7" id="7"/>
          <p:cNvSpPr txBox="true"/>
          <p:nvPr/>
        </p:nvSpPr>
        <p:spPr>
          <a:xfrm rot="0">
            <a:off x="263241" y="7031660"/>
            <a:ext cx="13963044" cy="1780540"/>
          </a:xfrm>
          <a:prstGeom prst="rect">
            <a:avLst/>
          </a:prstGeom>
        </p:spPr>
        <p:txBody>
          <a:bodyPr anchor="t" rtlCol="false" tIns="0" lIns="0" bIns="0" rIns="0">
            <a:spAutoFit/>
          </a:bodyPr>
          <a:lstStyle/>
          <a:p>
            <a:pPr algn="l">
              <a:lnSpc>
                <a:spcPts val="4759"/>
              </a:lnSpc>
            </a:pPr>
            <a:r>
              <a:rPr lang="en-US" sz="3399">
                <a:solidFill>
                  <a:srgbClr val="F4F4F4"/>
                </a:solidFill>
                <a:latin typeface="Canva Sans"/>
                <a:ea typeface="Canva Sans"/>
                <a:cs typeface="Canva Sans"/>
                <a:sym typeface="Canva Sans"/>
              </a:rPr>
              <a:t>Di</a:t>
            </a:r>
            <a:r>
              <a:rPr lang="en-US" sz="3399">
                <a:solidFill>
                  <a:srgbClr val="F4F4F4"/>
                </a:solidFill>
                <a:latin typeface="Canva Sans"/>
                <a:ea typeface="Canva Sans"/>
                <a:cs typeface="Canva Sans"/>
                <a:sym typeface="Canva Sans"/>
              </a:rPr>
              <a:t> sisi User: Sejarah kinerja Dosen tetap terjaga. Kita bisa membandingkan produktivitas Tono Mahendra saat jabatan lama vs jabatan baru secara terpisah.</a:t>
            </a:r>
          </a:p>
        </p:txBody>
      </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315690" y="2801328"/>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430898" y="1112057"/>
            <a:ext cx="9445123" cy="1689270"/>
          </a:xfrm>
          <a:prstGeom prst="rect">
            <a:avLst/>
          </a:prstGeom>
        </p:spPr>
        <p:txBody>
          <a:bodyPr anchor="t" rtlCol="false" tIns="0" lIns="0" bIns="0" rIns="0">
            <a:spAutoFit/>
          </a:bodyPr>
          <a:lstStyle/>
          <a:p>
            <a:pPr algn="l">
              <a:lnSpc>
                <a:spcPts val="6212"/>
              </a:lnSpc>
            </a:pPr>
            <a:r>
              <a:rPr lang="en-US" sz="6539" spc="-274" b="true">
                <a:solidFill>
                  <a:srgbClr val="F4F4F4"/>
                </a:solidFill>
                <a:latin typeface="Poppins Medium"/>
                <a:ea typeface="Poppins Medium"/>
                <a:cs typeface="Poppins Medium"/>
                <a:sym typeface="Poppins Medium"/>
              </a:rPr>
              <a:t>Kualitas &amp; Performa Data</a:t>
            </a:r>
          </a:p>
        </p:txBody>
      </p:sp>
      <p:sp>
        <p:nvSpPr>
          <p:cNvPr name="TextBox 4" id="4"/>
          <p:cNvSpPr txBox="true"/>
          <p:nvPr/>
        </p:nvSpPr>
        <p:spPr>
          <a:xfrm rot="0">
            <a:off x="768381" y="3855357"/>
            <a:ext cx="13869742" cy="2490560"/>
          </a:xfrm>
          <a:prstGeom prst="rect">
            <a:avLst/>
          </a:prstGeom>
        </p:spPr>
        <p:txBody>
          <a:bodyPr anchor="t" rtlCol="false" tIns="0" lIns="0" bIns="0" rIns="0">
            <a:spAutoFit/>
          </a:bodyPr>
          <a:lstStyle/>
          <a:p>
            <a:pPr algn="l" marL="609149" indent="-304574" lvl="1">
              <a:lnSpc>
                <a:spcPts val="3950"/>
              </a:lnSpc>
              <a:buFont typeface="Arial"/>
              <a:buChar char="•"/>
            </a:pPr>
            <a:r>
              <a:rPr lang="en-US" sz="2821" spc="-118">
                <a:solidFill>
                  <a:srgbClr val="F4F4F4"/>
                </a:solidFill>
                <a:latin typeface="Poppins"/>
                <a:ea typeface="Poppins"/>
                <a:cs typeface="Poppins"/>
                <a:sym typeface="Poppins"/>
              </a:rPr>
              <a:t>Data Quality: Laporan audit menunjukkan 0 Orphan Records (Integritas Referensial Terjamin antara Fakta dan Dimensi) .</a:t>
            </a:r>
          </a:p>
          <a:p>
            <a:pPr algn="l" marL="609149" indent="-304574" lvl="1">
              <a:lnSpc>
                <a:spcPts val="3950"/>
              </a:lnSpc>
              <a:spcBef>
                <a:spcPct val="0"/>
              </a:spcBef>
              <a:buFont typeface="Arial"/>
              <a:buChar char="•"/>
            </a:pPr>
            <a:r>
              <a:rPr lang="en-US" sz="2821" spc="-118">
                <a:solidFill>
                  <a:srgbClr val="F4F4F4"/>
                </a:solidFill>
                <a:latin typeface="Poppins"/>
                <a:ea typeface="Poppins"/>
                <a:cs typeface="Poppins"/>
                <a:sym typeface="Poppins"/>
              </a:rPr>
              <a:t>Performance: Pengujian stress test pada 10.000 data transaksi menunjukkan waktu eksekusi kueri kompleks (Join 4 tabel) hanya 0.28 detik (Target &lt; 3 detik) .</a:t>
            </a:r>
          </a:p>
          <a:p>
            <a:pPr algn="l">
              <a:lnSpc>
                <a:spcPts val="3950"/>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0" y="2109084"/>
            <a:ext cx="18288000" cy="0"/>
          </a:xfrm>
          <a:prstGeom prst="line">
            <a:avLst/>
          </a:prstGeom>
          <a:ln cap="rnd" w="9525">
            <a:solidFill>
              <a:srgbClr val="F4F4F4"/>
            </a:solidFill>
            <a:prstDash val="solid"/>
            <a:headEnd type="none" len="sm" w="sm"/>
            <a:tailEnd type="none" len="sm" w="sm"/>
          </a:ln>
        </p:spPr>
      </p:sp>
      <p:sp>
        <p:nvSpPr>
          <p:cNvPr name="Freeform 3" id="3"/>
          <p:cNvSpPr/>
          <p:nvPr/>
        </p:nvSpPr>
        <p:spPr>
          <a:xfrm flipH="false" flipV="false" rot="0">
            <a:off x="492027" y="3142283"/>
            <a:ext cx="9579047" cy="5352293"/>
          </a:xfrm>
          <a:custGeom>
            <a:avLst/>
            <a:gdLst/>
            <a:ahLst/>
            <a:cxnLst/>
            <a:rect r="r" b="b" t="t" l="l"/>
            <a:pathLst>
              <a:path h="5352293" w="9579047">
                <a:moveTo>
                  <a:pt x="0" y="0"/>
                </a:moveTo>
                <a:lnTo>
                  <a:pt x="9579047" y="0"/>
                </a:lnTo>
                <a:lnTo>
                  <a:pt x="9579047" y="5352292"/>
                </a:lnTo>
                <a:lnTo>
                  <a:pt x="0" y="5352292"/>
                </a:lnTo>
                <a:lnTo>
                  <a:pt x="0" y="0"/>
                </a:lnTo>
                <a:close/>
              </a:path>
            </a:pathLst>
          </a:custGeom>
          <a:blipFill>
            <a:blip r:embed="rId2"/>
            <a:stretch>
              <a:fillRect l="0" t="0" r="0" b="0"/>
            </a:stretch>
          </a:blipFill>
        </p:spPr>
      </p:sp>
      <p:sp>
        <p:nvSpPr>
          <p:cNvPr name="TextBox 4" id="4"/>
          <p:cNvSpPr txBox="true"/>
          <p:nvPr/>
        </p:nvSpPr>
        <p:spPr>
          <a:xfrm rot="0">
            <a:off x="492027" y="492919"/>
            <a:ext cx="7041070" cy="1185862"/>
          </a:xfrm>
          <a:prstGeom prst="rect">
            <a:avLst/>
          </a:prstGeom>
        </p:spPr>
        <p:txBody>
          <a:bodyPr anchor="t" rtlCol="false" tIns="0" lIns="0" bIns="0" rIns="0">
            <a:spAutoFit/>
          </a:bodyPr>
          <a:lstStyle/>
          <a:p>
            <a:pPr algn="l">
              <a:lnSpc>
                <a:spcPts val="8122"/>
              </a:lnSpc>
            </a:pPr>
            <a:r>
              <a:rPr lang="en-US" sz="8550" spc="-359" b="true">
                <a:solidFill>
                  <a:srgbClr val="F4F4F4"/>
                </a:solidFill>
                <a:latin typeface="Poppins Medium"/>
                <a:ea typeface="Poppins Medium"/>
                <a:cs typeface="Poppins Medium"/>
                <a:sym typeface="Poppins Medium"/>
              </a:rPr>
              <a:t>Dashboard</a:t>
            </a:r>
          </a:p>
        </p:txBody>
      </p:sp>
      <p:sp>
        <p:nvSpPr>
          <p:cNvPr name="TextBox 5" id="5"/>
          <p:cNvSpPr txBox="true"/>
          <p:nvPr/>
        </p:nvSpPr>
        <p:spPr>
          <a:xfrm rot="0">
            <a:off x="239475" y="2207695"/>
            <a:ext cx="11946724" cy="755015"/>
          </a:xfrm>
          <a:prstGeom prst="rect">
            <a:avLst/>
          </a:prstGeom>
        </p:spPr>
        <p:txBody>
          <a:bodyPr anchor="t" rtlCol="false" tIns="0" lIns="0" bIns="0" rIns="0">
            <a:spAutoFit/>
          </a:bodyPr>
          <a:lstStyle/>
          <a:p>
            <a:pPr algn="l">
              <a:lnSpc>
                <a:spcPts val="6160"/>
              </a:lnSpc>
            </a:pPr>
            <a:r>
              <a:rPr lang="en-US" sz="4400" b="true">
                <a:solidFill>
                  <a:srgbClr val="F4F4F4"/>
                </a:solidFill>
                <a:latin typeface="Canva Sans Bold"/>
                <a:ea typeface="Canva Sans Bold"/>
                <a:cs typeface="Canva Sans Bold"/>
                <a:sym typeface="Canva Sans Bold"/>
              </a:rPr>
              <a:t>Visualisasi (Executive</a:t>
            </a:r>
            <a:r>
              <a:rPr lang="en-US" b="true" sz="4400">
                <a:solidFill>
                  <a:srgbClr val="F4F4F4"/>
                </a:solidFill>
                <a:latin typeface="Canva Sans Bold"/>
                <a:ea typeface="Canva Sans Bold"/>
                <a:cs typeface="Canva Sans Bold"/>
                <a:sym typeface="Canva Sans Bold"/>
              </a:rPr>
              <a:t> Dashboard)</a:t>
            </a:r>
          </a:p>
        </p:txBody>
      </p:sp>
      <p:sp>
        <p:nvSpPr>
          <p:cNvPr name="TextBox 6" id="6"/>
          <p:cNvSpPr txBox="true"/>
          <p:nvPr/>
        </p:nvSpPr>
        <p:spPr>
          <a:xfrm rot="0">
            <a:off x="10386764" y="3551432"/>
            <a:ext cx="7390033" cy="4500745"/>
          </a:xfrm>
          <a:prstGeom prst="rect">
            <a:avLst/>
          </a:prstGeom>
        </p:spPr>
        <p:txBody>
          <a:bodyPr anchor="t" rtlCol="false" tIns="0" lIns="0" bIns="0" rIns="0">
            <a:spAutoFit/>
          </a:bodyPr>
          <a:lstStyle/>
          <a:p>
            <a:pPr algn="just" marL="697280" indent="-348640" lvl="1">
              <a:lnSpc>
                <a:spcPts val="4521"/>
              </a:lnSpc>
              <a:buFont typeface="Arial"/>
              <a:buChar char="•"/>
            </a:pPr>
            <a:r>
              <a:rPr lang="en-US" sz="3229">
                <a:solidFill>
                  <a:srgbClr val="F4F4F4"/>
                </a:solidFill>
                <a:latin typeface="Canva Sans"/>
                <a:ea typeface="Canva Sans"/>
                <a:cs typeface="Canva Sans"/>
                <a:sym typeface="Canva Sans"/>
              </a:rPr>
              <a:t>Fitur:</a:t>
            </a:r>
            <a:r>
              <a:rPr lang="en-US" sz="3229">
                <a:solidFill>
                  <a:srgbClr val="F4F4F4"/>
                </a:solidFill>
                <a:latin typeface="Canva Sans"/>
                <a:ea typeface="Canva Sans"/>
                <a:cs typeface="Canva Sans"/>
                <a:sym typeface="Canva Sans"/>
              </a:rPr>
              <a:t> Menampilkan KPI Utama (Total Mahasiswa, IPK Rata-rata, Total Publikasi).</a:t>
            </a:r>
          </a:p>
          <a:p>
            <a:pPr algn="just" marL="697280" indent="-348640" lvl="1">
              <a:lnSpc>
                <a:spcPts val="4521"/>
              </a:lnSpc>
              <a:buFont typeface="Arial"/>
              <a:buChar char="•"/>
            </a:pPr>
            <a:r>
              <a:rPr lang="en-US" sz="3229">
                <a:solidFill>
                  <a:srgbClr val="F4F4F4"/>
                </a:solidFill>
                <a:latin typeface="Canva Sans"/>
                <a:ea typeface="Canva Sans"/>
                <a:cs typeface="Canva Sans"/>
                <a:sym typeface="Canva Sans"/>
              </a:rPr>
              <a:t>Insight: Memungkinkan Dekan melihat tren penerimaan mahasiswa dan performa fakultas secara real-time </a:t>
            </a:r>
          </a:p>
          <a:p>
            <a:pPr algn="ctr">
              <a:lnSpc>
                <a:spcPts val="4521"/>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0" y="2109084"/>
            <a:ext cx="18288000" cy="0"/>
          </a:xfrm>
          <a:prstGeom prst="line">
            <a:avLst/>
          </a:prstGeom>
          <a:ln cap="rnd" w="9525">
            <a:solidFill>
              <a:srgbClr val="F4F4F4"/>
            </a:solidFill>
            <a:prstDash val="solid"/>
            <a:headEnd type="none" len="sm" w="sm"/>
            <a:tailEnd type="none" len="sm" w="sm"/>
          </a:ln>
        </p:spPr>
      </p:sp>
      <p:sp>
        <p:nvSpPr>
          <p:cNvPr name="Freeform 3" id="3"/>
          <p:cNvSpPr/>
          <p:nvPr/>
        </p:nvSpPr>
        <p:spPr>
          <a:xfrm flipH="false" flipV="false" rot="0">
            <a:off x="239475" y="3143684"/>
            <a:ext cx="8409689" cy="4709426"/>
          </a:xfrm>
          <a:custGeom>
            <a:avLst/>
            <a:gdLst/>
            <a:ahLst/>
            <a:cxnLst/>
            <a:rect r="r" b="b" t="t" l="l"/>
            <a:pathLst>
              <a:path h="4709426" w="8409689">
                <a:moveTo>
                  <a:pt x="0" y="0"/>
                </a:moveTo>
                <a:lnTo>
                  <a:pt x="8409688" y="0"/>
                </a:lnTo>
                <a:lnTo>
                  <a:pt x="8409688" y="4709426"/>
                </a:lnTo>
                <a:lnTo>
                  <a:pt x="0" y="4709426"/>
                </a:lnTo>
                <a:lnTo>
                  <a:pt x="0" y="0"/>
                </a:lnTo>
                <a:close/>
              </a:path>
            </a:pathLst>
          </a:custGeom>
          <a:blipFill>
            <a:blip r:embed="rId2"/>
            <a:stretch>
              <a:fillRect l="0" t="0" r="0" b="0"/>
            </a:stretch>
          </a:blipFill>
        </p:spPr>
      </p:sp>
      <p:sp>
        <p:nvSpPr>
          <p:cNvPr name="Freeform 4" id="4"/>
          <p:cNvSpPr/>
          <p:nvPr/>
        </p:nvSpPr>
        <p:spPr>
          <a:xfrm flipH="false" flipV="false" rot="0">
            <a:off x="9144000" y="3143684"/>
            <a:ext cx="8610137" cy="4853965"/>
          </a:xfrm>
          <a:custGeom>
            <a:avLst/>
            <a:gdLst/>
            <a:ahLst/>
            <a:cxnLst/>
            <a:rect r="r" b="b" t="t" l="l"/>
            <a:pathLst>
              <a:path h="4853965" w="8610137">
                <a:moveTo>
                  <a:pt x="0" y="0"/>
                </a:moveTo>
                <a:lnTo>
                  <a:pt x="8610137" y="0"/>
                </a:lnTo>
                <a:lnTo>
                  <a:pt x="8610137" y="4853965"/>
                </a:lnTo>
                <a:lnTo>
                  <a:pt x="0" y="4853965"/>
                </a:lnTo>
                <a:lnTo>
                  <a:pt x="0" y="0"/>
                </a:lnTo>
                <a:close/>
              </a:path>
            </a:pathLst>
          </a:custGeom>
          <a:blipFill>
            <a:blip r:embed="rId3"/>
            <a:stretch>
              <a:fillRect l="0" t="0" r="0" b="0"/>
            </a:stretch>
          </a:blipFill>
        </p:spPr>
      </p:sp>
      <p:sp>
        <p:nvSpPr>
          <p:cNvPr name="TextBox 5" id="5"/>
          <p:cNvSpPr txBox="true"/>
          <p:nvPr/>
        </p:nvSpPr>
        <p:spPr>
          <a:xfrm rot="0">
            <a:off x="492027" y="492919"/>
            <a:ext cx="7041070" cy="1185862"/>
          </a:xfrm>
          <a:prstGeom prst="rect">
            <a:avLst/>
          </a:prstGeom>
        </p:spPr>
        <p:txBody>
          <a:bodyPr anchor="t" rtlCol="false" tIns="0" lIns="0" bIns="0" rIns="0">
            <a:spAutoFit/>
          </a:bodyPr>
          <a:lstStyle/>
          <a:p>
            <a:pPr algn="l">
              <a:lnSpc>
                <a:spcPts val="8122"/>
              </a:lnSpc>
            </a:pPr>
            <a:r>
              <a:rPr lang="en-US" sz="8550" spc="-359" b="true">
                <a:solidFill>
                  <a:srgbClr val="F4F4F4"/>
                </a:solidFill>
                <a:latin typeface="Poppins Medium"/>
                <a:ea typeface="Poppins Medium"/>
                <a:cs typeface="Poppins Medium"/>
                <a:sym typeface="Poppins Medium"/>
              </a:rPr>
              <a:t>Dashboard</a:t>
            </a:r>
          </a:p>
        </p:txBody>
      </p:sp>
      <p:sp>
        <p:nvSpPr>
          <p:cNvPr name="TextBox 6" id="6"/>
          <p:cNvSpPr txBox="true"/>
          <p:nvPr/>
        </p:nvSpPr>
        <p:spPr>
          <a:xfrm rot="0">
            <a:off x="239475" y="2207695"/>
            <a:ext cx="11946724" cy="755015"/>
          </a:xfrm>
          <a:prstGeom prst="rect">
            <a:avLst/>
          </a:prstGeom>
        </p:spPr>
        <p:txBody>
          <a:bodyPr anchor="t" rtlCol="false" tIns="0" lIns="0" bIns="0" rIns="0">
            <a:spAutoFit/>
          </a:bodyPr>
          <a:lstStyle/>
          <a:p>
            <a:pPr algn="l">
              <a:lnSpc>
                <a:spcPts val="6160"/>
              </a:lnSpc>
            </a:pPr>
            <a:r>
              <a:rPr lang="en-US" sz="4400" b="true">
                <a:solidFill>
                  <a:srgbClr val="F4F4F4"/>
                </a:solidFill>
                <a:latin typeface="Canva Sans Bold"/>
                <a:ea typeface="Canva Sans Bold"/>
                <a:cs typeface="Canva Sans Bold"/>
                <a:sym typeface="Canva Sans Bold"/>
              </a:rPr>
              <a:t>Academic &amp; Research Detail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0" y="2109084"/>
            <a:ext cx="18288000" cy="0"/>
          </a:xfrm>
          <a:prstGeom prst="line">
            <a:avLst/>
          </a:prstGeom>
          <a:ln cap="rnd" w="9525">
            <a:solidFill>
              <a:srgbClr val="F4F4F4"/>
            </a:solidFill>
            <a:prstDash val="solid"/>
            <a:headEnd type="none" len="sm" w="sm"/>
            <a:tailEnd type="none" len="sm" w="sm"/>
          </a:ln>
        </p:spPr>
      </p:sp>
      <p:sp>
        <p:nvSpPr>
          <p:cNvPr name="Freeform 3" id="3"/>
          <p:cNvSpPr/>
          <p:nvPr/>
        </p:nvSpPr>
        <p:spPr>
          <a:xfrm flipH="false" flipV="false" rot="0">
            <a:off x="296497" y="3391334"/>
            <a:ext cx="10090267" cy="5328396"/>
          </a:xfrm>
          <a:custGeom>
            <a:avLst/>
            <a:gdLst/>
            <a:ahLst/>
            <a:cxnLst/>
            <a:rect r="r" b="b" t="t" l="l"/>
            <a:pathLst>
              <a:path h="5328396" w="10090267">
                <a:moveTo>
                  <a:pt x="0" y="0"/>
                </a:moveTo>
                <a:lnTo>
                  <a:pt x="10090267" y="0"/>
                </a:lnTo>
                <a:lnTo>
                  <a:pt x="10090267" y="5328396"/>
                </a:lnTo>
                <a:lnTo>
                  <a:pt x="0" y="5328396"/>
                </a:lnTo>
                <a:lnTo>
                  <a:pt x="0" y="0"/>
                </a:lnTo>
                <a:close/>
              </a:path>
            </a:pathLst>
          </a:custGeom>
          <a:blipFill>
            <a:blip r:embed="rId2"/>
            <a:stretch>
              <a:fillRect l="0" t="0" r="0" b="0"/>
            </a:stretch>
          </a:blipFill>
        </p:spPr>
      </p:sp>
      <p:sp>
        <p:nvSpPr>
          <p:cNvPr name="TextBox 4" id="4"/>
          <p:cNvSpPr txBox="true"/>
          <p:nvPr/>
        </p:nvSpPr>
        <p:spPr>
          <a:xfrm rot="0">
            <a:off x="492027" y="492919"/>
            <a:ext cx="7041070" cy="1185862"/>
          </a:xfrm>
          <a:prstGeom prst="rect">
            <a:avLst/>
          </a:prstGeom>
        </p:spPr>
        <p:txBody>
          <a:bodyPr anchor="t" rtlCol="false" tIns="0" lIns="0" bIns="0" rIns="0">
            <a:spAutoFit/>
          </a:bodyPr>
          <a:lstStyle/>
          <a:p>
            <a:pPr algn="l">
              <a:lnSpc>
                <a:spcPts val="8122"/>
              </a:lnSpc>
            </a:pPr>
            <a:r>
              <a:rPr lang="en-US" sz="8550" spc="-359" b="true">
                <a:solidFill>
                  <a:srgbClr val="F4F4F4"/>
                </a:solidFill>
                <a:latin typeface="Poppins Medium"/>
                <a:ea typeface="Poppins Medium"/>
                <a:cs typeface="Poppins Medium"/>
                <a:sym typeface="Poppins Medium"/>
              </a:rPr>
              <a:t>Dashboard</a:t>
            </a:r>
          </a:p>
        </p:txBody>
      </p:sp>
      <p:sp>
        <p:nvSpPr>
          <p:cNvPr name="TextBox 5" id="5"/>
          <p:cNvSpPr txBox="true"/>
          <p:nvPr/>
        </p:nvSpPr>
        <p:spPr>
          <a:xfrm rot="0">
            <a:off x="239475" y="2207695"/>
            <a:ext cx="14188124" cy="755015"/>
          </a:xfrm>
          <a:prstGeom prst="rect">
            <a:avLst/>
          </a:prstGeom>
        </p:spPr>
        <p:txBody>
          <a:bodyPr anchor="t" rtlCol="false" tIns="0" lIns="0" bIns="0" rIns="0">
            <a:spAutoFit/>
          </a:bodyPr>
          <a:lstStyle/>
          <a:p>
            <a:pPr algn="l">
              <a:lnSpc>
                <a:spcPts val="6160"/>
              </a:lnSpc>
            </a:pPr>
            <a:r>
              <a:rPr lang="en-US" sz="4400" b="true">
                <a:solidFill>
                  <a:srgbClr val="F4F4F4"/>
                </a:solidFill>
                <a:latin typeface="Canva Sans Bold"/>
                <a:ea typeface="Canva Sans Bold"/>
                <a:cs typeface="Canva Sans Bold"/>
                <a:sym typeface="Canva Sans Bold"/>
              </a:rPr>
              <a:t>Implementasi Keamanan (RLS - Row Level</a:t>
            </a:r>
            <a:r>
              <a:rPr lang="en-US" b="true" sz="4400">
                <a:solidFill>
                  <a:srgbClr val="F4F4F4"/>
                </a:solidFill>
                <a:latin typeface="Canva Sans Bold"/>
                <a:ea typeface="Canva Sans Bold"/>
                <a:cs typeface="Canva Sans Bold"/>
                <a:sym typeface="Canva Sans Bold"/>
              </a:rPr>
              <a:t> Security)</a:t>
            </a:r>
          </a:p>
        </p:txBody>
      </p:sp>
      <p:sp>
        <p:nvSpPr>
          <p:cNvPr name="TextBox 6" id="6"/>
          <p:cNvSpPr txBox="true"/>
          <p:nvPr/>
        </p:nvSpPr>
        <p:spPr>
          <a:xfrm rot="0">
            <a:off x="10732582" y="3771822"/>
            <a:ext cx="7390033" cy="4500745"/>
          </a:xfrm>
          <a:prstGeom prst="rect">
            <a:avLst/>
          </a:prstGeom>
        </p:spPr>
        <p:txBody>
          <a:bodyPr anchor="t" rtlCol="false" tIns="0" lIns="0" bIns="0" rIns="0">
            <a:spAutoFit/>
          </a:bodyPr>
          <a:lstStyle/>
          <a:p>
            <a:pPr algn="just" marL="697280" indent="-348640" lvl="1">
              <a:lnSpc>
                <a:spcPts val="4521"/>
              </a:lnSpc>
              <a:buFont typeface="Arial"/>
              <a:buChar char="•"/>
            </a:pPr>
            <a:r>
              <a:rPr lang="en-US" sz="3229">
                <a:solidFill>
                  <a:srgbClr val="F4F4F4"/>
                </a:solidFill>
                <a:latin typeface="Canva Sans"/>
                <a:ea typeface="Canva Sans"/>
                <a:cs typeface="Canva Sans"/>
                <a:sym typeface="Canva Sans"/>
              </a:rPr>
              <a:t>Masalah: Data sensitif antar-prodi tidak boleh bocor.</a:t>
            </a:r>
          </a:p>
          <a:p>
            <a:pPr algn="just" marL="697280" indent="-348640" lvl="1">
              <a:lnSpc>
                <a:spcPts val="4521"/>
              </a:lnSpc>
              <a:buFont typeface="Arial"/>
              <a:buChar char="•"/>
            </a:pPr>
            <a:r>
              <a:rPr lang="en-US" sz="3229">
                <a:solidFill>
                  <a:srgbClr val="F4F4F4"/>
                </a:solidFill>
                <a:latin typeface="Canva Sans"/>
                <a:ea typeface="Canva Sans"/>
                <a:cs typeface="Canva Sans"/>
                <a:sym typeface="Canva Sans"/>
              </a:rPr>
              <a:t>Solusi: Penerapan RLS.</a:t>
            </a:r>
          </a:p>
          <a:p>
            <a:pPr algn="just">
              <a:lnSpc>
                <a:spcPts val="4521"/>
              </a:lnSpc>
            </a:pPr>
            <a:r>
              <a:rPr lang="en-US" sz="3229">
                <a:solidFill>
                  <a:srgbClr val="F4F4F4"/>
                </a:solidFill>
                <a:latin typeface="Canva Sans"/>
                <a:ea typeface="Canva Sans"/>
                <a:cs typeface="Canva Sans"/>
                <a:sym typeface="Canva Sans"/>
              </a:rPr>
              <a:t>(1)Contoh: Saat login sebagai Kaprodi Biologi, sistem otomatis memfilter data sehingga data prodi lain (Fisika, Kimia) tersembunyi .</a:t>
            </a:r>
          </a:p>
          <a:p>
            <a:pPr algn="ctr">
              <a:lnSpc>
                <a:spcPts val="4521"/>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347259" y="2064769"/>
            <a:ext cx="18288000" cy="0"/>
          </a:xfrm>
          <a:prstGeom prst="line">
            <a:avLst/>
          </a:prstGeom>
          <a:ln cap="rnd" w="9525">
            <a:solidFill>
              <a:srgbClr val="F4F4F4"/>
            </a:solidFill>
            <a:prstDash val="solid"/>
            <a:headEnd type="none" len="sm" w="sm"/>
            <a:tailEnd type="none" len="sm" w="sm"/>
          </a:ln>
        </p:spPr>
      </p:sp>
      <p:sp>
        <p:nvSpPr>
          <p:cNvPr name="Freeform 3" id="3"/>
          <p:cNvSpPr/>
          <p:nvPr/>
        </p:nvSpPr>
        <p:spPr>
          <a:xfrm flipH="false" flipV="false" rot="0">
            <a:off x="430898" y="6333127"/>
            <a:ext cx="10023963" cy="1439234"/>
          </a:xfrm>
          <a:custGeom>
            <a:avLst/>
            <a:gdLst/>
            <a:ahLst/>
            <a:cxnLst/>
            <a:rect r="r" b="b" t="t" l="l"/>
            <a:pathLst>
              <a:path h="1439234" w="10023963">
                <a:moveTo>
                  <a:pt x="0" y="0"/>
                </a:moveTo>
                <a:lnTo>
                  <a:pt x="10023962" y="0"/>
                </a:lnTo>
                <a:lnTo>
                  <a:pt x="10023962" y="1439235"/>
                </a:lnTo>
                <a:lnTo>
                  <a:pt x="0" y="1439235"/>
                </a:lnTo>
                <a:lnTo>
                  <a:pt x="0" y="0"/>
                </a:lnTo>
                <a:close/>
              </a:path>
            </a:pathLst>
          </a:custGeom>
          <a:blipFill>
            <a:blip r:embed="rId2"/>
            <a:stretch>
              <a:fillRect l="0" t="0" r="0" b="0"/>
            </a:stretch>
          </a:blipFill>
        </p:spPr>
      </p:sp>
      <p:sp>
        <p:nvSpPr>
          <p:cNvPr name="Freeform 4" id="4"/>
          <p:cNvSpPr/>
          <p:nvPr/>
        </p:nvSpPr>
        <p:spPr>
          <a:xfrm flipH="false" flipV="false" rot="0">
            <a:off x="364274" y="2336231"/>
            <a:ext cx="7805803" cy="2349706"/>
          </a:xfrm>
          <a:custGeom>
            <a:avLst/>
            <a:gdLst/>
            <a:ahLst/>
            <a:cxnLst/>
            <a:rect r="r" b="b" t="t" l="l"/>
            <a:pathLst>
              <a:path h="2349706" w="7805803">
                <a:moveTo>
                  <a:pt x="0" y="0"/>
                </a:moveTo>
                <a:lnTo>
                  <a:pt x="7805802" y="0"/>
                </a:lnTo>
                <a:lnTo>
                  <a:pt x="7805802" y="2349706"/>
                </a:lnTo>
                <a:lnTo>
                  <a:pt x="0" y="2349706"/>
                </a:lnTo>
                <a:lnTo>
                  <a:pt x="0" y="0"/>
                </a:lnTo>
                <a:close/>
              </a:path>
            </a:pathLst>
          </a:custGeom>
          <a:blipFill>
            <a:blip r:embed="rId3"/>
            <a:stretch>
              <a:fillRect l="0" t="0" r="0" b="0"/>
            </a:stretch>
          </a:blipFill>
        </p:spPr>
      </p:sp>
      <p:sp>
        <p:nvSpPr>
          <p:cNvPr name="TextBox 5" id="5"/>
          <p:cNvSpPr txBox="true"/>
          <p:nvPr/>
        </p:nvSpPr>
        <p:spPr>
          <a:xfrm rot="0">
            <a:off x="430898" y="339408"/>
            <a:ext cx="9445123" cy="1454785"/>
          </a:xfrm>
          <a:prstGeom prst="rect">
            <a:avLst/>
          </a:prstGeom>
        </p:spPr>
        <p:txBody>
          <a:bodyPr anchor="t" rtlCol="false" tIns="0" lIns="0" bIns="0" rIns="0">
            <a:spAutoFit/>
          </a:bodyPr>
          <a:lstStyle/>
          <a:p>
            <a:pPr algn="l">
              <a:lnSpc>
                <a:spcPts val="5338"/>
              </a:lnSpc>
            </a:pPr>
            <a:r>
              <a:rPr lang="en-US" sz="5619" spc="-236" b="true">
                <a:solidFill>
                  <a:srgbClr val="F4F4F4"/>
                </a:solidFill>
                <a:latin typeface="Poppins Medium"/>
                <a:ea typeface="Poppins Medium"/>
                <a:cs typeface="Poppins Medium"/>
                <a:sym typeface="Poppins Medium"/>
              </a:rPr>
              <a:t>Keamanan Lanjutan (Masking &amp; Audit)</a:t>
            </a:r>
          </a:p>
        </p:txBody>
      </p:sp>
      <p:sp>
        <p:nvSpPr>
          <p:cNvPr name="TextBox 6" id="6"/>
          <p:cNvSpPr txBox="true"/>
          <p:nvPr/>
        </p:nvSpPr>
        <p:spPr>
          <a:xfrm rot="0">
            <a:off x="364274" y="7823852"/>
            <a:ext cx="13730416" cy="1485754"/>
          </a:xfrm>
          <a:prstGeom prst="rect">
            <a:avLst/>
          </a:prstGeom>
        </p:spPr>
        <p:txBody>
          <a:bodyPr anchor="t" rtlCol="false" tIns="0" lIns="0" bIns="0" rIns="0">
            <a:spAutoFit/>
          </a:bodyPr>
          <a:lstStyle/>
          <a:p>
            <a:pPr algn="l">
              <a:lnSpc>
                <a:spcPts val="3910"/>
              </a:lnSpc>
              <a:spcBef>
                <a:spcPct val="0"/>
              </a:spcBef>
            </a:pPr>
            <a:r>
              <a:rPr lang="en-US" sz="2793" spc="-117">
                <a:solidFill>
                  <a:srgbClr val="F4F4F4"/>
                </a:solidFill>
                <a:latin typeface="Poppins"/>
                <a:ea typeface="Poppins"/>
                <a:cs typeface="Poppins"/>
                <a:sym typeface="Poppins"/>
              </a:rPr>
              <a:t>Audit Trail: Setiap perubahan data (Update/Delete) pada tabel fakta direkam dalam tabel AuditLog_System untuk pelacakan jejak digital .</a:t>
            </a:r>
          </a:p>
          <a:p>
            <a:pPr algn="l">
              <a:lnSpc>
                <a:spcPts val="3910"/>
              </a:lnSpc>
              <a:spcBef>
                <a:spcPct val="0"/>
              </a:spcBef>
            </a:pPr>
          </a:p>
        </p:txBody>
      </p:sp>
      <p:sp>
        <p:nvSpPr>
          <p:cNvPr name="TextBox 7" id="7"/>
          <p:cNvSpPr txBox="true"/>
          <p:nvPr/>
        </p:nvSpPr>
        <p:spPr>
          <a:xfrm rot="0">
            <a:off x="430898" y="4885962"/>
            <a:ext cx="13663792" cy="1180465"/>
          </a:xfrm>
          <a:prstGeom prst="rect">
            <a:avLst/>
          </a:prstGeom>
        </p:spPr>
        <p:txBody>
          <a:bodyPr anchor="t" rtlCol="false" tIns="0" lIns="0" bIns="0" rIns="0">
            <a:spAutoFit/>
          </a:bodyPr>
          <a:lstStyle/>
          <a:p>
            <a:pPr algn="l">
              <a:lnSpc>
                <a:spcPts val="4759"/>
              </a:lnSpc>
            </a:pPr>
            <a:r>
              <a:rPr lang="en-US" sz="3399">
                <a:solidFill>
                  <a:srgbClr val="F4F4F4"/>
                </a:solidFill>
                <a:latin typeface="Canva Sans"/>
                <a:ea typeface="Canva Sans"/>
                <a:cs typeface="Canva Sans"/>
                <a:sym typeface="Canva Sans"/>
              </a:rPr>
              <a:t>Data</a:t>
            </a:r>
            <a:r>
              <a:rPr lang="en-US" sz="3399">
                <a:solidFill>
                  <a:srgbClr val="F4F4F4"/>
                </a:solidFill>
                <a:latin typeface="Canva Sans"/>
                <a:ea typeface="Canva Sans"/>
                <a:cs typeface="Canva Sans"/>
                <a:sym typeface="Canva Sans"/>
              </a:rPr>
              <a:t> Masking: Data sensitif seperti No HP dan Email disensor otomatis untuk user level staf/viewer (Contoh: 0812-XXXX-1234) .</a:t>
            </a:r>
          </a:p>
        </p:txBody>
      </p:sp>
    </p:spTree>
  </p:cSld>
  <p:clrMapOvr>
    <a:masterClrMapping/>
  </p:clrMapOvr>
</p:sld>
</file>

<file path=ppt/slides/slide19.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315690" y="2801328"/>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430898" y="827936"/>
            <a:ext cx="9445123" cy="1689270"/>
          </a:xfrm>
          <a:prstGeom prst="rect">
            <a:avLst/>
          </a:prstGeom>
        </p:spPr>
        <p:txBody>
          <a:bodyPr anchor="t" rtlCol="false" tIns="0" lIns="0" bIns="0" rIns="0">
            <a:spAutoFit/>
          </a:bodyPr>
          <a:lstStyle/>
          <a:p>
            <a:pPr algn="l">
              <a:lnSpc>
                <a:spcPts val="6212"/>
              </a:lnSpc>
            </a:pPr>
            <a:r>
              <a:rPr lang="en-US" sz="6539" spc="-274" b="true">
                <a:solidFill>
                  <a:srgbClr val="F4F4F4"/>
                </a:solidFill>
                <a:latin typeface="Poppins Medium"/>
                <a:ea typeface="Poppins Medium"/>
                <a:cs typeface="Poppins Medium"/>
                <a:sym typeface="Poppins Medium"/>
              </a:rPr>
              <a:t>Strategi Backup &amp; Recovery</a:t>
            </a:r>
          </a:p>
        </p:txBody>
      </p:sp>
      <p:sp>
        <p:nvSpPr>
          <p:cNvPr name="TextBox 4" id="4"/>
          <p:cNvSpPr txBox="true"/>
          <p:nvPr/>
        </p:nvSpPr>
        <p:spPr>
          <a:xfrm rot="0">
            <a:off x="1028700" y="3467004"/>
            <a:ext cx="15328123" cy="3880051"/>
          </a:xfrm>
          <a:prstGeom prst="rect">
            <a:avLst/>
          </a:prstGeom>
        </p:spPr>
        <p:txBody>
          <a:bodyPr anchor="t" rtlCol="false" tIns="0" lIns="0" bIns="0" rIns="0">
            <a:spAutoFit/>
          </a:bodyPr>
          <a:lstStyle/>
          <a:p>
            <a:pPr algn="l" marL="673200" indent="-336600" lvl="1">
              <a:lnSpc>
                <a:spcPts val="4365"/>
              </a:lnSpc>
              <a:buFont typeface="Arial"/>
              <a:buChar char="•"/>
            </a:pPr>
            <a:r>
              <a:rPr lang="en-US" sz="3118" spc="-130">
                <a:solidFill>
                  <a:srgbClr val="F4F4F4"/>
                </a:solidFill>
                <a:latin typeface="Poppins"/>
                <a:ea typeface="Poppins"/>
                <a:cs typeface="Poppins"/>
                <a:sym typeface="Poppins"/>
              </a:rPr>
              <a:t>Strategi:</a:t>
            </a:r>
          </a:p>
          <a:p>
            <a:pPr algn="l">
              <a:lnSpc>
                <a:spcPts val="4365"/>
              </a:lnSpc>
            </a:pPr>
            <a:r>
              <a:rPr lang="en-US" sz="3118" spc="-130">
                <a:solidFill>
                  <a:srgbClr val="F4F4F4"/>
                </a:solidFill>
                <a:latin typeface="Poppins"/>
                <a:ea typeface="Poppins"/>
                <a:cs typeface="Poppins"/>
                <a:sym typeface="Poppins"/>
              </a:rPr>
              <a:t>       (1) </a:t>
            </a:r>
            <a:r>
              <a:rPr lang="en-US" sz="3118" spc="-130">
                <a:solidFill>
                  <a:srgbClr val="F4F4F4"/>
                </a:solidFill>
                <a:latin typeface="Poppins"/>
                <a:ea typeface="Poppins"/>
                <a:cs typeface="Poppins"/>
                <a:sym typeface="Poppins"/>
              </a:rPr>
              <a:t>Full Backup: Mingguan (Minggu 02:00).</a:t>
            </a:r>
          </a:p>
          <a:p>
            <a:pPr algn="l">
              <a:lnSpc>
                <a:spcPts val="4365"/>
              </a:lnSpc>
            </a:pPr>
            <a:r>
              <a:rPr lang="en-US" sz="3118" spc="-130">
                <a:solidFill>
                  <a:srgbClr val="F4F4F4"/>
                </a:solidFill>
                <a:latin typeface="Poppins"/>
                <a:ea typeface="Poppins"/>
                <a:cs typeface="Poppins"/>
                <a:sym typeface="Poppins"/>
              </a:rPr>
              <a:t>       (2)</a:t>
            </a:r>
            <a:r>
              <a:rPr lang="en-US" sz="3118" spc="-130">
                <a:solidFill>
                  <a:srgbClr val="F4F4F4"/>
                </a:solidFill>
                <a:latin typeface="Poppins"/>
                <a:ea typeface="Poppins"/>
                <a:cs typeface="Poppins"/>
                <a:sym typeface="Poppins"/>
              </a:rPr>
              <a:t>D</a:t>
            </a:r>
            <a:r>
              <a:rPr lang="en-US" sz="3118" spc="-130">
                <a:solidFill>
                  <a:srgbClr val="F4F4F4"/>
                </a:solidFill>
                <a:latin typeface="Poppins"/>
                <a:ea typeface="Poppins"/>
                <a:cs typeface="Poppins"/>
                <a:sym typeface="Poppins"/>
              </a:rPr>
              <a:t>ifferential: Harian (Senin-Sabtu 02:00).</a:t>
            </a:r>
          </a:p>
          <a:p>
            <a:pPr algn="l">
              <a:lnSpc>
                <a:spcPts val="4365"/>
              </a:lnSpc>
            </a:pPr>
            <a:r>
              <a:rPr lang="en-US" sz="3118" spc="-130">
                <a:solidFill>
                  <a:srgbClr val="F4F4F4"/>
                </a:solidFill>
                <a:latin typeface="Poppins"/>
                <a:ea typeface="Poppins"/>
                <a:cs typeface="Poppins"/>
                <a:sym typeface="Poppins"/>
              </a:rPr>
              <a:t>       (3)Transaction Log: Per 6 Jam.</a:t>
            </a:r>
          </a:p>
          <a:p>
            <a:pPr algn="l" marL="673200" indent="-336600" lvl="1">
              <a:lnSpc>
                <a:spcPts val="4365"/>
              </a:lnSpc>
              <a:buFont typeface="Arial"/>
              <a:buChar char="•"/>
            </a:pPr>
            <a:r>
              <a:rPr lang="en-US" sz="3118" spc="-130">
                <a:solidFill>
                  <a:srgbClr val="F4F4F4"/>
                </a:solidFill>
                <a:latin typeface="Poppins"/>
                <a:ea typeface="Poppins"/>
                <a:cs typeface="Poppins"/>
                <a:sym typeface="Poppins"/>
              </a:rPr>
              <a:t>Tujuan: Meminimalisir kehilangan data (RPO) dan mempercepat pemulihan (RTO) jika terjadi bencana .</a:t>
            </a:r>
          </a:p>
          <a:p>
            <a:pPr algn="l">
              <a:lnSpc>
                <a:spcPts val="4365"/>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p:cSld>
    <p:bg>
      <p:bgPr>
        <a:gradFill rotWithShape="true">
          <a:gsLst>
            <a:gs pos="0">
              <a:srgbClr val="6B1124">
                <a:alpha val="100000"/>
              </a:srgbClr>
            </a:gs>
            <a:gs pos="50000">
              <a:srgbClr val="000000">
                <a:alpha val="100000"/>
              </a:srgbClr>
            </a:gs>
            <a:gs pos="100000">
              <a:srgbClr val="6B1124">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flipV="true">
            <a:off x="0" y="6569683"/>
            <a:ext cx="18288000" cy="0"/>
          </a:xfrm>
          <a:prstGeom prst="line">
            <a:avLst/>
          </a:prstGeom>
          <a:ln cap="rnd" w="9525">
            <a:solidFill>
              <a:srgbClr val="F4F4F4"/>
            </a:solidFill>
            <a:prstDash val="solid"/>
            <a:headEnd type="none" len="sm" w="sm"/>
            <a:tailEnd type="none" len="sm" w="sm"/>
          </a:ln>
        </p:spPr>
      </p:sp>
      <p:sp>
        <p:nvSpPr>
          <p:cNvPr name="TextBox 3" id="3"/>
          <p:cNvSpPr txBox="true"/>
          <p:nvPr/>
        </p:nvSpPr>
        <p:spPr>
          <a:xfrm rot="0">
            <a:off x="3252477" y="2655970"/>
            <a:ext cx="11783046" cy="1794400"/>
          </a:xfrm>
          <a:prstGeom prst="rect">
            <a:avLst/>
          </a:prstGeom>
        </p:spPr>
        <p:txBody>
          <a:bodyPr anchor="t" rtlCol="false" tIns="0" lIns="0" bIns="0" rIns="0">
            <a:spAutoFit/>
          </a:bodyPr>
          <a:lstStyle/>
          <a:p>
            <a:pPr algn="ctr">
              <a:lnSpc>
                <a:spcPts val="12365"/>
              </a:lnSpc>
            </a:pPr>
            <a:r>
              <a:rPr lang="en-US" b="true" sz="13016" spc="-546">
                <a:solidFill>
                  <a:srgbClr val="F4F4F4"/>
                </a:solidFill>
                <a:latin typeface="Poppins Medium"/>
                <a:ea typeface="Poppins Medium"/>
                <a:cs typeface="Poppins Medium"/>
                <a:sym typeface="Poppins Medium"/>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DAG6PuHHiOA</dc:identifier>
  <dcterms:modified xsi:type="dcterms:W3CDTF">2011-08-01T06:04:30Z</dcterms:modified>
  <cp:revision>1</cp:revision>
  <dc:title>PPT Kelompok Fakultas Sains</dc:title>
</cp:coreProperties>
</file>